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</p:sldIdLst>
  <p:notesMasterIdLst>
    <p:notesMasterId r:id="rId2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notesMaster" Target="notesMasters/notesMaster1.xml"/><Relationship Id="rId25" Type="http://schemas.openxmlformats.org/officeDocument/2006/relationships/presProps" Target="presProps.xml"/><Relationship Id="rId26" Type="http://schemas.openxmlformats.org/officeDocument/2006/relationships/viewProps" Target="viewProps.xml"/><Relationship Id="rId27" Type="http://schemas.openxmlformats.org/officeDocument/2006/relationships/theme" Target="theme/theme1.xml"/><Relationship Id="rId28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_rels/chart2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PingFang SC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PingFang SC"/>
              </a:rPr>
              <a:t>移动端性能得分（越高越好）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现状</c:v>
                </c:pt>
              </c:strCache>
            </c:strRef>
          </c:tx>
          <c:spPr>
            <a:solidFill>
              <a:srgbClr val="9A9E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PingFang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dartmangames.com → DARTMAN</c:v>
                  </c:pt>
                  <c:pt idx="1">
                    <c:v>madeindayin.com → 大银制造 EN</c:v>
                  </c:pt>
                  <c:pt idx="2">
                    <c:v>madeindayin.cn → 大银制造 中文</c:v>
                  </c:pt>
                  <c:pt idx="3">
                    <c:v>dayinsport.com → DAYIN Sport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72</c:v>
                </c:pt>
                <c:pt idx="1">
                  <c:v>53</c:v>
                </c:pt>
                <c:pt idx="2">
                  <c:v>42</c:v>
                </c:pt>
                <c:pt idx="3">
                  <c:v>59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新版</c:v>
                </c:pt>
              </c:strCache>
            </c:strRef>
          </c:tx>
          <c:spPr>
            <a:solidFill>
              <a:srgbClr val="E857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PingFang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dartmangames.com → DARTMAN</c:v>
                  </c:pt>
                  <c:pt idx="1">
                    <c:v>madeindayin.com → 大银制造 EN</c:v>
                  </c:pt>
                  <c:pt idx="2">
                    <c:v>madeindayin.cn → 大银制造 中文</c:v>
                  </c:pt>
                  <c:pt idx="3">
                    <c:v>dayinsport.com → DAYIN Sport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78</c:v>
                </c:pt>
                <c:pt idx="1">
                  <c:v>79</c:v>
                </c:pt>
                <c:pt idx="2">
                  <c:v>82</c:v>
                </c:pt>
                <c:pt idx="3">
                  <c:v>77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PingFang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  <c:max val="100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000" b="0" i="0" u="none" strike="noStrike">
                <a:solidFill>
                  <a:srgbClr val="000000"/>
                </a:solidFill>
                <a:latin typeface="PingFang SC"/>
              </a:defRPr>
            </a:pPr>
            <a:r>
              <a:rPr sz="1000" b="0" i="0" u="none" strike="noStrike">
                <a:solidFill>
                  <a:srgbClr val="000000"/>
                </a:solidFill>
                <a:latin typeface="PingFang SC"/>
              </a:rPr>
              <a:t>首页体积 MB（越低越好）</a:t>
            </a:r>
          </a:p>
        </c:rich>
      </c:tx>
      <c:layout/>
      <c:overlay val="0"/>
    </c:title>
    <c:autoTitleDeleted val="0"/>
    <c:plotArea>
      <c:layout/>
      <c:barChart>
        <c:barDir val="col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现状</c:v>
                </c:pt>
              </c:strCache>
            </c:strRef>
          </c:tx>
          <c:spPr>
            <a:solidFill>
              <a:srgbClr val="9A9EA8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PingFang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dartmangames.com → DARTMAN</c:v>
                  </c:pt>
                  <c:pt idx="1">
                    <c:v>madeindayin.com → 大银制造 EN</c:v>
                  </c:pt>
                  <c:pt idx="2">
                    <c:v>madeindayin.cn → 大银制造 中文</c:v>
                  </c:pt>
                  <c:pt idx="3">
                    <c:v>dayinsport.com → DAYIN Sport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4.2</c:v>
                </c:pt>
                <c:pt idx="1">
                  <c:v>3</c:v>
                </c:pt>
                <c:pt idx="2">
                  <c:v>9.9</c:v>
                </c:pt>
                <c:pt idx="3">
                  <c:v>2.7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新版</c:v>
                </c:pt>
              </c:strCache>
            </c:strRef>
          </c:tx>
          <c:spPr>
            <a:solidFill>
              <a:srgbClr val="E8571F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900" u="none">
                    <a:solidFill>
                      <a:srgbClr val="000000"/>
                    </a:solidFill>
                    <a:latin typeface="PingFang SC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dartmangames.com → DARTMAN</c:v>
                  </c:pt>
                  <c:pt idx="1">
                    <c:v>madeindayin.com → 大银制造 EN</c:v>
                  </c:pt>
                  <c:pt idx="2">
                    <c:v>madeindayin.cn → 大银制造 中文</c:v>
                  </c:pt>
                  <c:pt idx="3">
                    <c:v>dayinsport.com → DAYIN Sport</c:v>
                  </c:pt>
                </c:lvl>
              </c:multiLvlStrCache>
            </c:multiLvlStrRef>
          </c:cat>
          <c:val>
            <c:numRef>
              <c:f>Sheet1!$C$2:$C$5</c:f>
              <c:numCache>
                <c:formatCode>General</c:formatCode>
                <c:ptCount val="4"/>
                <c:pt idx="0">
                  <c:v>1</c:v>
                </c:pt>
                <c:pt idx="1">
                  <c:v>1.1</c:v>
                </c:pt>
                <c:pt idx="2">
                  <c:v>1.2</c:v>
                </c:pt>
                <c:pt idx="3">
                  <c:v>1.1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900" u="none">
                  <a:solidFill>
                    <a:srgbClr val="000000"/>
                  </a:solidFill>
                  <a:latin typeface="PingFang SC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b"/>
        <c:numFmt formatCode="General" sourceLinked="1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PingFang SC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l"/>
        <c:majorGridlines>
          <c:spPr>
            <a:ln w="12700" cap="flat">
              <a:solidFill>
                <a:srgbClr val="888888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800" b="0" i="0" u="none" strike="noStrike">
                <a:solidFill>
                  <a:srgbClr val="000000"/>
                </a:solidFill>
                <a:latin typeface="Arial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legend>
      <c:legendPos val="b"/>
      <c:overlay val="0"/>
      <c:txPr>
        <a:bodyPr/>
        <a:lstStyle/>
        <a:p>
          <a:pPr>
            <a:defRPr sz="900">
              <a:latin typeface="PingFang SC"/>
              <a:cs typeface="PingFang SC"/>
            </a:defRPr>
          </a:pPr>
          <a:endParaRPr lang="en-US"/>
        </a:p>
      </c:txPr>
    </c:legend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image" Target="../media/image-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chart" Target="/ppt/charts/chart2.xml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image" Target="../media/image-8-2.jpg"/><Relationship Id="rId3" Type="http://schemas.openxmlformats.org/officeDocument/2006/relationships/image" Target="../media/image-8-3.jp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image" Target="../media/image-9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image" Target="../media/image-10-2.jpg"/><Relationship Id="rId3" Type="http://schemas.openxmlformats.org/officeDocument/2006/relationships/image" Target="../media/image-10-3.jpg"/><Relationship Id="rId4" Type="http://schemas.openxmlformats.org/officeDocument/2006/relationships/image" Target="../media/image-10-4.jpg"/><Relationship Id="rId5" Type="http://schemas.openxmlformats.org/officeDocument/2006/relationships/image" Target="../media/image-10-5.jpg"/><Relationship Id="rId6" Type="http://schemas.openxmlformats.org/officeDocument/2006/relationships/image" Target="../media/image-10-6.jpg"/><Relationship Id="rId7" Type="http://schemas.openxmlformats.org/officeDocument/2006/relationships/image" Target="../media/image-10-7.jpg"/><Relationship Id="rId8" Type="http://schemas.openxmlformats.org/officeDocument/2006/relationships/image" Target="../media/image-10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image" Target="../media/image-12-2.jpg"/><Relationship Id="rId3" Type="http://schemas.openxmlformats.org/officeDocument/2006/relationships/image" Target="../media/image-12-3.jpg"/><Relationship Id="rId4" Type="http://schemas.openxmlformats.org/officeDocument/2006/relationships/image" Target="../media/image-12-4.jpg"/><Relationship Id="rId5" Type="http://schemas.openxmlformats.org/officeDocument/2006/relationships/image" Target="../media/image-12-5.jpg"/><Relationship Id="rId6" Type="http://schemas.openxmlformats.org/officeDocument/2006/relationships/image" Target="../media/image-12-6.jpg"/><Relationship Id="rId7" Type="http://schemas.openxmlformats.org/officeDocument/2006/relationships/image" Target="../media/image-12-7.jpg"/><Relationship Id="rId8" Type="http://schemas.openxmlformats.org/officeDocument/2006/relationships/image" Target="../media/image-12-8.jpg"/><Relationship Id="rId9" Type="http://schemas.openxmlformats.org/officeDocument/2006/relationships/image" Target="../media/image-12-9.jpg"/><Relationship Id="rId10" Type="http://schemas.openxmlformats.org/officeDocument/2006/relationships/slideLayout" Target="../slideLayouts/slideLayout1.xml"/><Relationship Id="rId11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image" Target="../media/image-13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image" Target="../media/image-14-2.jpg"/><Relationship Id="rId3" Type="http://schemas.openxmlformats.org/officeDocument/2006/relationships/image" Target="../media/image-14-3.jpg"/><Relationship Id="rId4" Type="http://schemas.openxmlformats.org/officeDocument/2006/relationships/image" Target="../media/image-14-4.jpg"/><Relationship Id="rId5" Type="http://schemas.openxmlformats.org/officeDocument/2006/relationships/image" Target="../media/image-14-5.jp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image" Target="../media/image-18-2.jpg"/><Relationship Id="rId3" Type="http://schemas.openxmlformats.org/officeDocument/2006/relationships/image" Target="../media/image-18-3.jpg"/><Relationship Id="rId4" Type="http://schemas.openxmlformats.org/officeDocument/2006/relationships/image" Target="../media/image-18-4.jpg"/><Relationship Id="rId5" Type="http://schemas.openxmlformats.org/officeDocument/2006/relationships/image" Target="../media/image-18-5.jpg"/><Relationship Id="rId6" Type="http://schemas.openxmlformats.org/officeDocument/2006/relationships/image" Target="../media/image-18-6.jpg"/><Relationship Id="rId7" Type="http://schemas.openxmlformats.org/officeDocument/2006/relationships/image" Target="../media/image-18-7.jpg"/><Relationship Id="rId8" Type="http://schemas.openxmlformats.org/officeDocument/2006/relationships/image" Target="../media/image-18-8.jp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png"/><Relationship Id="rId2" Type="http://schemas.openxmlformats.org/officeDocument/2006/relationships/image" Target="../media/image-20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png"/><Relationship Id="rId2" Type="http://schemas.openxmlformats.org/officeDocument/2006/relationships/image" Target="../media/image-21-2.png"/><Relationship Id="rId3" Type="http://schemas.openxmlformats.org/officeDocument/2006/relationships/image" Target="../media/image-21-3.png"/><Relationship Id="rId4" Type="http://schemas.openxmlformats.org/officeDocument/2006/relationships/image" Target="../media/image-21-4.png"/><Relationship Id="rId5" Type="http://schemas.openxmlformats.org/officeDocument/2006/relationships/image" Target="../media/image-21-5.png"/><Relationship Id="rId6" Type="http://schemas.openxmlformats.org/officeDocument/2006/relationships/image" Target="../media/image-21-6.png"/><Relationship Id="rId7" Type="http://schemas.openxmlformats.org/officeDocument/2006/relationships/image" Target="../media/image-21-7.png"/><Relationship Id="rId8" Type="http://schemas.openxmlformats.org/officeDocument/2006/relationships/image" Target="../media/image-21-8.png"/><Relationship Id="rId9" Type="http://schemas.openxmlformats.org/officeDocument/2006/relationships/image" Target="../media/image-21-9.png"/><Relationship Id="rId10" Type="http://schemas.openxmlformats.org/officeDocument/2006/relationships/image" Target="../media/image-21-10.png"/><Relationship Id="rId11" Type="http://schemas.openxmlformats.org/officeDocument/2006/relationships/image" Target="../media/image-21-11.png"/><Relationship Id="rId12" Type="http://schemas.openxmlformats.org/officeDocument/2006/relationships/image" Target="../media/image-21-12.png"/><Relationship Id="rId13" Type="http://schemas.openxmlformats.org/officeDocument/2006/relationships/slideLayout" Target="../slideLayouts/slideLayout1.xml"/><Relationship Id="rId14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516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research/deck/dm-hero-people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754880" y="0"/>
            <a:ext cx="4389120" cy="51435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4754880" y="0"/>
            <a:ext cx="4389120" cy="5143500"/>
          </a:xfrm>
          <a:prstGeom prst="rect">
            <a:avLst/>
          </a:prstGeom>
          <a:solidFill>
            <a:srgbClr val="15161B">
              <a:alpha val="65000"/>
            </a:srgbClr>
          </a:solidFill>
          <a:ln w="12700">
            <a:solidFill>
              <a:srgbClr val="15161B">
                <a:alpha val="0"/>
              </a:srgbClr>
            </a:solidFill>
            <a:prstDash val="solid"/>
          </a:ln>
        </p:spPr>
      </p:sp>
      <p:sp>
        <p:nvSpPr>
          <p:cNvPr id="4" name="Text 1"/>
          <p:cNvSpPr/>
          <p:nvPr/>
        </p:nvSpPr>
        <p:spPr>
          <a:xfrm>
            <a:off x="457200" y="4572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 Media and Technology · 东莞 · 2026-09-21 · 方案 v3</a:t>
            </a:r>
            <a:endParaRPr lang="en-US" sz="1100" dirty="0"/>
          </a:p>
        </p:txBody>
      </p:sp>
      <p:sp>
        <p:nvSpPr>
          <p:cNvPr id="5" name="Text 2"/>
          <p:cNvSpPr/>
          <p:nvPr/>
        </p:nvSpPr>
        <p:spPr>
          <a:xfrm>
            <a:off x="457200" y="1005840"/>
            <a:ext cx="4754880" cy="20116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三个网站，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两门生意，</a:t>
            </a:r>
            <a:endParaRPr lang="en-US" sz="4000" dirty="0"/>
          </a:p>
          <a:p>
            <a:pPr indent="0" marL="0">
              <a:lnSpc>
                <a:spcPct val="105000"/>
              </a:lnSpc>
              <a:buNone/>
            </a:pPr>
            <a:r>
              <a:rPr lang="en-US" sz="4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一个团队。</a:t>
            </a:r>
            <a:endParaRPr lang="en-US" sz="4000" dirty="0"/>
          </a:p>
        </p:txBody>
      </p:sp>
      <p:sp>
        <p:nvSpPr>
          <p:cNvPr id="6" name="Text 3"/>
          <p:cNvSpPr/>
          <p:nvPr/>
        </p:nvSpPr>
        <p:spPr>
          <a:xfrm>
            <a:off x="457200" y="3108960"/>
            <a:ext cx="457200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C9CB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大银集团数字营销升级方案 —— 附三个已按可上线标准做好的网站样例（DARTMAN Games · 大银制造 · DAYIN Sport 商城），以及现状诊断、12 周计划与费用框架。请先扫码看样例，再看方案。</a:t>
            </a:r>
            <a:endParaRPr lang="en-US" sz="1200" dirty="0"/>
          </a:p>
        </p:txBody>
      </p:sp>
      <p:pic>
        <p:nvPicPr>
          <p:cNvPr id="7" name="Image 1" descr="research/deck/qr-hub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57200" y="3977640"/>
            <a:ext cx="822960" cy="822960"/>
          </a:xfrm>
          <a:prstGeom prst="rect">
            <a:avLst/>
          </a:prstGeom>
        </p:spPr>
      </p:pic>
      <p:sp>
        <p:nvSpPr>
          <p:cNvPr id="8" name="Text 4"/>
          <p:cNvSpPr/>
          <p:nvPr/>
        </p:nvSpPr>
        <p:spPr>
          <a:xfrm>
            <a:off x="1371600" y="4069080"/>
            <a:ext cx="32004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C9CB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手机扫码打开样例总览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C9CBD1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https://aailee779-coder.github.io/</a:t>
            </a:r>
            <a:endParaRPr lang="en-US" sz="1000" dirty="0"/>
          </a:p>
        </p:txBody>
      </p:sp>
      <p:sp>
        <p:nvSpPr>
          <p:cNvPr id="9" name="Text 5"/>
          <p:cNvSpPr/>
          <p:nvPr/>
        </p:nvSpPr>
        <p:spPr>
          <a:xfrm>
            <a:off x="5120640" y="448056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致：大银集团（DAYIN）管理层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01 · 三分钟看懂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三分钟看懂这份方案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1965960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80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页</a:t>
            </a:r>
            <a:endParaRPr lang="en-US" sz="2600" dirty="0"/>
          </a:p>
        </p:txBody>
      </p:sp>
      <p:sp>
        <p:nvSpPr>
          <p:cNvPr id="9" name="Text 7"/>
          <p:cNvSpPr/>
          <p:nvPr/>
        </p:nvSpPr>
        <p:spPr>
          <a:xfrm>
            <a:off x="594360" y="1755648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已完成的样例页面（三个站点），全部可在手机上打开</a:t>
            </a:r>
            <a:endParaRPr lang="en-US" sz="1050" dirty="0"/>
          </a:p>
        </p:txBody>
      </p:sp>
      <p:sp>
        <p:nvSpPr>
          <p:cNvPr id="10" name="Shape 8"/>
          <p:cNvSpPr/>
          <p:nvPr/>
        </p:nvSpPr>
        <p:spPr>
          <a:xfrm>
            <a:off x="2560320" y="1188720"/>
            <a:ext cx="1965960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2697480" y="1280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周</a:t>
            </a:r>
            <a:endParaRPr lang="en-US" sz="2600" dirty="0"/>
          </a:p>
        </p:txBody>
      </p:sp>
      <p:sp>
        <p:nvSpPr>
          <p:cNvPr id="12" name="Text 10"/>
          <p:cNvSpPr/>
          <p:nvPr/>
        </p:nvSpPr>
        <p:spPr>
          <a:xfrm>
            <a:off x="2697480" y="1755648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确认后到三个站全部上线，按里程碑付款</a:t>
            </a:r>
            <a:endParaRPr lang="en-US" sz="1050" dirty="0"/>
          </a:p>
        </p:txBody>
      </p:sp>
      <p:sp>
        <p:nvSpPr>
          <p:cNvPr id="13" name="Shape 11"/>
          <p:cNvSpPr/>
          <p:nvPr/>
        </p:nvSpPr>
        <p:spPr>
          <a:xfrm>
            <a:off x="4663440" y="1188720"/>
            <a:ext cx="1965960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800600" y="1280160"/>
            <a:ext cx="169164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 元</a:t>
            </a:r>
            <a:endParaRPr lang="en-US" sz="2600" dirty="0"/>
          </a:p>
        </p:txBody>
      </p:sp>
      <p:sp>
        <p:nvSpPr>
          <p:cNvPr id="15" name="Text 13"/>
          <p:cNvSpPr/>
          <p:nvPr/>
        </p:nvSpPr>
        <p:spPr>
          <a:xfrm>
            <a:off x="4800600" y="1755648"/>
            <a:ext cx="16916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样例阶段贵司无需支付 [BBK 确认]</a:t>
            </a:r>
            <a:endParaRPr lang="en-US" sz="1050" dirty="0"/>
          </a:p>
        </p:txBody>
      </p:sp>
      <p:sp>
        <p:nvSpPr>
          <p:cNvPr id="16" name="Shape 14"/>
          <p:cNvSpPr/>
          <p:nvPr/>
        </p:nvSpPr>
        <p:spPr>
          <a:xfrm>
            <a:off x="6766560" y="1188720"/>
            <a:ext cx="1920240" cy="105156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6903720" y="1280160"/>
            <a:ext cx="16459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 个</a:t>
            </a:r>
            <a:endParaRPr lang="en-US" sz="2600" dirty="0"/>
          </a:p>
        </p:txBody>
      </p:sp>
      <p:sp>
        <p:nvSpPr>
          <p:cNvPr id="18" name="Text 16"/>
          <p:cNvSpPr/>
          <p:nvPr/>
        </p:nvSpPr>
        <p:spPr>
          <a:xfrm>
            <a:off x="6903720" y="1755648"/>
            <a:ext cx="1645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需要贵司确认的问题（百度 / 机台数 / 三站分工）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457200" y="2423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我们看到的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57200" y="26700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贵司的根基很扎实，网站没有把它讲出来。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57200" y="3127248"/>
            <a:ext cx="1965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35 年注塑经验、100+ 台机器、越南新厂、自有品牌飞镖机——在网站上要么被埋在“关于我们”，要么用一个 Wix 模板呈现。四个站点的 Google 移动端性能得分 42–72 分，.cn 首页 9.9 MB。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2560320" y="2423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我们做了什么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2560320" y="26700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先把样例做出来，再谈合作。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2560320" y="3127248"/>
            <a:ext cx="1965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三个网站按可上线标准重建，并按各自行业标杆一比一搭建结构：DARTMAN（Dartshopper）、大银制造（Protolabs）、DAYIN Sport（Darts Corner）。全部数字来自贵司公开资料，未验证的标注“待确认”。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663440" y="2423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数据说明</a:t>
            </a:r>
            <a:endParaRPr lang="en-US" sz="1000" dirty="0"/>
          </a:p>
        </p:txBody>
      </p:sp>
      <p:sp>
        <p:nvSpPr>
          <p:cNvPr id="26" name="Text 24"/>
          <p:cNvSpPr/>
          <p:nvPr/>
        </p:nvSpPr>
        <p:spPr>
          <a:xfrm>
            <a:off x="4663440" y="26700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新版更快、更轻、更规范。</a:t>
            </a:r>
            <a:endParaRPr lang="en-US" sz="1200" dirty="0"/>
          </a:p>
        </p:txBody>
      </p:sp>
      <p:sp>
        <p:nvSpPr>
          <p:cNvPr id="27" name="Text 25"/>
          <p:cNvSpPr/>
          <p:nvPr/>
        </p:nvSpPr>
        <p:spPr>
          <a:xfrm>
            <a:off x="4663440" y="3127248"/>
            <a:ext cx="1965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移动端性能：DARTMAN 72→78，大银制造 53→79 / 42→82，商城 59→77；页面体积 2.7–9.9 MB → 1.0–1.2 MB；SEO 与最佳实践两项 100 分；50 个页面视图零溢出、零脚本错误。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6766560" y="2423160"/>
            <a:ext cx="19659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我们建议的下一步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6766560" y="2670048"/>
            <a:ext cx="19659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周分三阶段上线。</a:t>
            </a:r>
            <a:endParaRPr lang="en-US" sz="1200" dirty="0"/>
          </a:p>
        </p:txBody>
      </p:sp>
      <p:sp>
        <p:nvSpPr>
          <p:cNvPr id="30" name="Text 28"/>
          <p:cNvSpPr/>
          <p:nvPr/>
        </p:nvSpPr>
        <p:spPr>
          <a:xfrm>
            <a:off x="6766560" y="3127248"/>
            <a:ext cx="1965960" cy="1600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4 周 DARTMAN 上线 → 第 7 周大银制造 .com/.cn → 第 9 周商城 → 第 12 周社媒与看板运行。域名、账户、源码全部归大银。贵司只需回复一句话：“确认第一阶段”。</a:t>
            </a:r>
            <a:endParaRPr lang="en-US" sz="9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02 · 先说清楚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需要贵司确认的三个问题 · 本方案的三个原则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234440"/>
            <a:ext cx="493776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307592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 百度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2011680" y="130759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madeindayin.com（海外站）目前是否也在投放百度 SEO/SEM？需求书中写了，但海外买家不用百度。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457200" y="2103120"/>
            <a:ext cx="493776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594360" y="2176272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 越南机台数</a:t>
            </a:r>
            <a:endParaRPr lang="en-US" sz="1200" dirty="0"/>
          </a:p>
        </p:txBody>
      </p:sp>
      <p:sp>
        <p:nvSpPr>
          <p:cNvPr id="12" name="Text 10"/>
          <p:cNvSpPr/>
          <p:nvPr/>
        </p:nvSpPr>
        <p:spPr>
          <a:xfrm>
            <a:off x="2011680" y="217627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官网首页写 40 台，越南页写 24 台，需求书写 25 台。以哪个为准？样例中标注为“待确认”。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457200" y="2971800"/>
            <a:ext cx="4937760" cy="77724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594360" y="3044952"/>
            <a:ext cx="1463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 三个飞镖站点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2011680" y="3044952"/>
            <a:ext cx="3291840" cy="6858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madeindayin.com/sporting、dayinsport.com、dartmangames.com 今后如何分工？我们建议：代工归 madeindayin，品牌归 DARTMAN，零售归 DAYIN Sport。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5669280" y="123444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806440" y="130759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不编造。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5806440" y="1581912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没有虚构的案例、评价或数据；样例中的示例商品与价格均已标注。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5669280" y="210312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5806440" y="217627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不碰贵司现有资产。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5806440" y="2450592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样例部署在 BBK 自己的地址，未触碰贵司域名、DNS、后台与广告账户。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5669280" y="2971800"/>
            <a:ext cx="3017520" cy="777240"/>
          </a:xfrm>
          <a:prstGeom prst="rect">
            <a:avLst/>
          </a:prstGeom>
          <a:solidFill>
            <a:srgbClr val="FFFFF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5806440" y="3044952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不绑定。</a:t>
            </a:r>
            <a:endParaRPr lang="en-US" sz="1200" dirty="0"/>
          </a:p>
        </p:txBody>
      </p:sp>
      <p:sp>
        <p:nvSpPr>
          <p:cNvPr id="24" name="Text 22"/>
          <p:cNvSpPr/>
          <p:nvPr/>
        </p:nvSpPr>
        <p:spPr>
          <a:xfrm>
            <a:off x="5806440" y="3319272"/>
            <a:ext cx="27889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账户以大银名义开设，源码交付，合作终止 5 个工作日内移交全部权限。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457200" y="397764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回复这三个问题 + 一句“确认第一阶段”，我们下周一启动。</a:t>
            </a:r>
            <a:endParaRPr lang="en-US" sz="12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03 · 我们理解的需求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四站六渠道 → 两门生意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88720"/>
            <a:ext cx="822960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贵司的需求书列了四个网站（madeindayin.cn / .com、dartmangames.com、dayinsport.com、规划中的商用扫地机站）和六个渠道（抖音、视频号、LinkedIn、Instagram、Facebook、搜索引擎）。我们逐字复述过，也逐个看过。结论是：这是两门不同的生意，客户、周期、指标完全不同，应该分开做。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57200" y="192024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9" name="Shape 7"/>
          <p:cNvSpPr/>
          <p:nvPr/>
        </p:nvSpPr>
        <p:spPr>
          <a:xfrm>
            <a:off x="457200" y="192024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457200" y="1920240"/>
            <a:ext cx="73152" cy="2011680"/>
          </a:xfrm>
          <a:prstGeom prst="rect">
            <a:avLst/>
          </a:prstGeom>
          <a:solidFill>
            <a:srgbClr val="15161B"/>
          </a:solidFill>
          <a:ln w="12700">
            <a:solidFill>
              <a:srgbClr val="15161B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685800" y="2011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生意 A · 卖产能</a:t>
            </a:r>
            <a:endParaRPr lang="en-US" sz="1300" dirty="0"/>
          </a:p>
        </p:txBody>
      </p:sp>
      <p:sp>
        <p:nvSpPr>
          <p:cNvPr id="12" name="Text 10"/>
          <p:cNvSpPr/>
          <p:nvPr/>
        </p:nvSpPr>
        <p:spPr>
          <a:xfrm>
            <a:off x="685800" y="22677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madeindayin.com / .cn</a:t>
            </a:r>
            <a:endParaRPr lang="en-US" sz="950" dirty="0"/>
          </a:p>
        </p:txBody>
      </p:sp>
      <p:sp>
        <p:nvSpPr>
          <p:cNvPr id="13" name="Text 11"/>
          <p:cNvSpPr/>
          <p:nvPr/>
        </p:nvSpPr>
        <p:spPr>
          <a:xfrm>
            <a:off x="685800" y="256032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客户：海外采购经理、品牌方 · 周期：3–12 个月 · 指标：合格询盘数、询盘质量、到厂拜访数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渠道：Google 搜索、LinkedIn、行业展会；.cn 对应百度与国内客户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关键资产：越南工厂——应当是首页主角，而不是“关于我们”里的子项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663440" y="1920240"/>
            <a:ext cx="4023360" cy="2011680"/>
          </a:xfrm>
          <a:prstGeom prst="rect">
            <a:avLst/>
          </a:prstGeom>
          <a:solidFill>
            <a:srgbClr val="FFFFFF"/>
          </a:solidFill>
          <a:ln w="12700">
            <a:solidFill>
              <a:srgbClr val="E4E6EA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4663440" y="1920240"/>
            <a:ext cx="73152" cy="2011680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4892040" y="20116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生意 B · 卖自有品牌</a:t>
            </a:r>
            <a:endParaRPr lang="en-US" sz="1300" dirty="0"/>
          </a:p>
        </p:txBody>
      </p:sp>
      <p:sp>
        <p:nvSpPr>
          <p:cNvPr id="17" name="Text 15"/>
          <p:cNvSpPr/>
          <p:nvPr/>
        </p:nvSpPr>
        <p:spPr>
          <a:xfrm>
            <a:off x="4892040" y="2267712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dartmangames.com · dayinsport.com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892040" y="2560320"/>
            <a:ext cx="3657600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客户：酒吧老板、经销商（DARTMAN）；家庭玩家（DAYIN Sport）· 周期：几天到几周 · 指标：经销商申请、报价请求、订单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渠道：Instagram、Facebook、YouTube、Google 购物；国内用抖音与视频号</a:t>
            </a:r>
            <a:endParaRPr lang="en-US" sz="1000" dirty="0"/>
          </a:p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关键资产：EDmini 的三个数字——11 cm、65 kg、一人安装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57200" y="406908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因此：一套品牌三种语气（统一大银橙 + DAYIN 字标，版式各按行业标杆）· 先做快的那一边（DARTMAN 2–4 周可见询盘）· 扫地机站先不做（产品线未定，先在大银制造站放“清洁电器”栏目）</a:t>
            </a:r>
            <a:endParaRPr lang="en-US" sz="10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04 · 现状诊断 · 实测数据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四个站点的体检报告 · Google Lighthouse 12 · 2026-09-19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85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822960"/>
                <a:gridCol w="822960"/>
                <a:gridCol w="1280160"/>
                <a:gridCol w="1005840"/>
                <a:gridCol w="731520"/>
                <a:gridCol w="1005840"/>
                <a:gridCol w="731520"/>
                <a:gridCol w="73152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站点（首页）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性能·移动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性能·桌面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最大内容渲染 LCP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页面体积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请求数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布局偏移 CLS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无障碍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SEO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dartmangames.com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72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44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15.6 s（桌面）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4.2 MB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251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93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madeindayin.com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53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44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5.8 s（移动）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3.0–4.8 MB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47–58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76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92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madeindayin.cn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42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59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6.6 s（移动）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9.9 MB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86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0.797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60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83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dayinsport.com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59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55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8.6 s（桌面）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2.7 MB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38–42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0.00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96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100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291840"/>
            <a:ext cx="822960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工具：Google Lighthouse（Chrome 内置，Google 用同一套指标评估网页体验），模拟移动网络，同一天、同一设置。分数满分 100；Google 认为 90 以上为“好”。LCP 标准 ≤ 2.5 s；CLS 标准 ≤ 0.1——.cn 首页移动端 0.797 意味着用户点击时按钮会“跑掉”；.cn 的 9.9 MB 中有 9.6 MB 是未压缩图片。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457200" y="41148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一句话：内容有、根基有、产品有；缺的是速度、结构和让买家动手的入口。这些都可以在 12 周内解决。</a:t>
            </a:r>
            <a:endParaRPr lang="en-US" sz="12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05 · 现状诊断 · 发现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十二项发现（证据截图见在线诊断报告 /audit/）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88720"/>
            <a:ext cx="502920" cy="38404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45720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严重</a:t>
            </a:r>
            <a:endParaRPr lang="en-US" sz="900" dirty="0"/>
          </a:p>
        </p:txBody>
      </p:sp>
      <p:sp>
        <p:nvSpPr>
          <p:cNvPr id="9" name="Text 7"/>
          <p:cNvSpPr/>
          <p:nvPr/>
        </p:nvSpPr>
        <p:spPr>
          <a:xfrm>
            <a:off x="1051560" y="12070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F2 · dartmangames.com 唯一联系邮箱属于另一家公司名下（jinweiplastic.com）</a:t>
            </a:r>
            <a:endParaRPr lang="en-US" sz="950" dirty="0"/>
          </a:p>
        </p:txBody>
      </p:sp>
      <p:sp>
        <p:nvSpPr>
          <p:cNvPr id="10" name="Shape 8"/>
          <p:cNvSpPr/>
          <p:nvPr/>
        </p:nvSpPr>
        <p:spPr>
          <a:xfrm>
            <a:off x="457200" y="1719072"/>
            <a:ext cx="502920" cy="384048"/>
          </a:xfrm>
          <a:prstGeom prst="rect">
            <a:avLst/>
          </a:prstGeom>
          <a:solidFill>
            <a:srgbClr val="C8102E"/>
          </a:solidFill>
          <a:ln w="12700">
            <a:solidFill>
              <a:srgbClr val="C8102E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57200" y="17190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严重</a:t>
            </a:r>
            <a:endParaRPr lang="en-US" sz="900" dirty="0"/>
          </a:p>
        </p:txBody>
      </p:sp>
      <p:sp>
        <p:nvSpPr>
          <p:cNvPr id="12" name="Text 10"/>
          <p:cNvSpPr/>
          <p:nvPr/>
        </p:nvSpPr>
        <p:spPr>
          <a:xfrm>
            <a:off x="1051560" y="1737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F6 · 没有任何面向买家决策的转化资产：无报价流程、无经销商申请、无规格下载</a:t>
            </a:r>
            <a:endParaRPr lang="en-US" sz="950" dirty="0"/>
          </a:p>
        </p:txBody>
      </p:sp>
      <p:sp>
        <p:nvSpPr>
          <p:cNvPr id="13" name="Shape 11"/>
          <p:cNvSpPr/>
          <p:nvPr/>
        </p:nvSpPr>
        <p:spPr>
          <a:xfrm>
            <a:off x="457200" y="2249424"/>
            <a:ext cx="502920" cy="38404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4" name="Text 12"/>
          <p:cNvSpPr/>
          <p:nvPr/>
        </p:nvSpPr>
        <p:spPr>
          <a:xfrm>
            <a:off x="457200" y="224942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</a:t>
            </a:r>
            <a:endParaRPr lang="en-US" sz="900" dirty="0"/>
          </a:p>
        </p:txBody>
      </p:sp>
      <p:sp>
        <p:nvSpPr>
          <p:cNvPr id="15" name="Text 13"/>
          <p:cNvSpPr/>
          <p:nvPr/>
        </p:nvSpPr>
        <p:spPr>
          <a:xfrm>
            <a:off x="1051560" y="226771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F1 · 英文站导航里有未翻译的繁体中文菜单项（商店 / 通知 / 我的訂閱）</a:t>
            </a:r>
            <a:endParaRPr lang="en-US" sz="950" dirty="0"/>
          </a:p>
        </p:txBody>
      </p:sp>
      <p:sp>
        <p:nvSpPr>
          <p:cNvPr id="16" name="Shape 14"/>
          <p:cNvSpPr/>
          <p:nvPr/>
        </p:nvSpPr>
        <p:spPr>
          <a:xfrm>
            <a:off x="457200" y="2779776"/>
            <a:ext cx="502920" cy="38404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457200" y="277977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</a:t>
            </a:r>
            <a:endParaRPr lang="en-US" sz="900" dirty="0"/>
          </a:p>
        </p:txBody>
      </p:sp>
      <p:sp>
        <p:nvSpPr>
          <p:cNvPr id="18" name="Text 16"/>
          <p:cNvSpPr/>
          <p:nvPr/>
        </p:nvSpPr>
        <p:spPr>
          <a:xfrm>
            <a:off x="1051560" y="279806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F9 · 越南工厂是“关于我们”的一个子项，不是网站定位</a:t>
            </a:r>
            <a:endParaRPr lang="en-US" sz="950" dirty="0"/>
          </a:p>
        </p:txBody>
      </p:sp>
      <p:sp>
        <p:nvSpPr>
          <p:cNvPr id="19" name="Shape 17"/>
          <p:cNvSpPr/>
          <p:nvPr/>
        </p:nvSpPr>
        <p:spPr>
          <a:xfrm>
            <a:off x="457200" y="3310128"/>
            <a:ext cx="502920" cy="38404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0" name="Text 18"/>
          <p:cNvSpPr/>
          <p:nvPr/>
        </p:nvSpPr>
        <p:spPr>
          <a:xfrm>
            <a:off x="457200" y="331012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1051560" y="332841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F11 · dayinsport.com 已上线且为 B2B 代工站，与需求书描述不符；飞镖代工分散在三个站</a:t>
            </a:r>
            <a:endParaRPr lang="en-US" sz="950" dirty="0"/>
          </a:p>
        </p:txBody>
      </p:sp>
      <p:sp>
        <p:nvSpPr>
          <p:cNvPr id="22" name="Shape 20"/>
          <p:cNvSpPr/>
          <p:nvPr/>
        </p:nvSpPr>
        <p:spPr>
          <a:xfrm>
            <a:off x="457200" y="3840480"/>
            <a:ext cx="502920" cy="38404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457200" y="384048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高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1051560" y="385876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F3 · 测试页面进入了生产环境（/facts-about-us-test-test、/copy-of-terms-of-service）</a:t>
            </a:r>
            <a:endParaRPr lang="en-US" sz="950" dirty="0"/>
          </a:p>
        </p:txBody>
      </p:sp>
      <p:sp>
        <p:nvSpPr>
          <p:cNvPr id="25" name="Shape 23"/>
          <p:cNvSpPr/>
          <p:nvPr/>
        </p:nvSpPr>
        <p:spPr>
          <a:xfrm>
            <a:off x="4663440" y="1188720"/>
            <a:ext cx="502920" cy="384048"/>
          </a:xfrm>
          <a:prstGeom prst="rect">
            <a:avLst/>
          </a:prstGeom>
          <a:solidFill>
            <a:srgbClr val="B08A00"/>
          </a:solidFill>
          <a:ln w="12700">
            <a:solidFill>
              <a:srgbClr val="B08A00"/>
            </a:solidFill>
            <a:prstDash val="solid"/>
          </a:ln>
        </p:spPr>
      </p:sp>
      <p:sp>
        <p:nvSpPr>
          <p:cNvPr id="26" name="Text 24"/>
          <p:cNvSpPr/>
          <p:nvPr/>
        </p:nvSpPr>
        <p:spPr>
          <a:xfrm>
            <a:off x="4663440" y="118872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5257800" y="120700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F10 · 越南机台数在三处不一致（40 / 24 / 25）</a:t>
            </a:r>
            <a:endParaRPr lang="en-US" sz="950" dirty="0"/>
          </a:p>
        </p:txBody>
      </p:sp>
      <p:sp>
        <p:nvSpPr>
          <p:cNvPr id="28" name="Shape 26"/>
          <p:cNvSpPr/>
          <p:nvPr/>
        </p:nvSpPr>
        <p:spPr>
          <a:xfrm>
            <a:off x="4663440" y="1719072"/>
            <a:ext cx="502920" cy="384048"/>
          </a:xfrm>
          <a:prstGeom prst="rect">
            <a:avLst/>
          </a:prstGeom>
          <a:solidFill>
            <a:srgbClr val="B08A00"/>
          </a:solidFill>
          <a:ln w="12700">
            <a:solidFill>
              <a:srgbClr val="B08A00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4663440" y="1719072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5257800" y="1737360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F7 · 需求书将 .com 海外站的工作列为百度 SEO/SEM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663440" y="2249424"/>
            <a:ext cx="502920" cy="384048"/>
          </a:xfrm>
          <a:prstGeom prst="rect">
            <a:avLst/>
          </a:prstGeom>
          <a:solidFill>
            <a:srgbClr val="B08A00"/>
          </a:solidFill>
          <a:ln w="12700">
            <a:solidFill>
              <a:srgbClr val="B08A00"/>
            </a:solidFill>
            <a:prstDash val="solid"/>
          </a:ln>
        </p:spPr>
      </p:sp>
      <p:sp>
        <p:nvSpPr>
          <p:cNvPr id="32" name="Text 30"/>
          <p:cNvSpPr/>
          <p:nvPr/>
        </p:nvSpPr>
        <p:spPr>
          <a:xfrm>
            <a:off x="4663440" y="2249424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</a:t>
            </a:r>
            <a:endParaRPr lang="en-US" sz="900" dirty="0"/>
          </a:p>
        </p:txBody>
      </p:sp>
      <p:sp>
        <p:nvSpPr>
          <p:cNvPr id="33" name="Text 31"/>
          <p:cNvSpPr/>
          <p:nvPr/>
        </p:nvSpPr>
        <p:spPr>
          <a:xfrm>
            <a:off x="5257800" y="2267712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F5 · “高端产品线”只有一个产品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663440" y="2779776"/>
            <a:ext cx="502920" cy="384048"/>
          </a:xfrm>
          <a:prstGeom prst="rect">
            <a:avLst/>
          </a:prstGeom>
          <a:solidFill>
            <a:srgbClr val="B08A00"/>
          </a:solidFill>
          <a:ln w="12700">
            <a:solidFill>
              <a:srgbClr val="B08A00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663440" y="2779776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5257800" y="2798064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F12 · .cn 标题已含“越南注塑厂”，但内容与 .com 未联动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663440" y="3310128"/>
            <a:ext cx="502920" cy="384048"/>
          </a:xfrm>
          <a:prstGeom prst="rect">
            <a:avLst/>
          </a:prstGeom>
          <a:solidFill>
            <a:srgbClr val="7A7E88"/>
          </a:solidFill>
          <a:ln w="12700">
            <a:solidFill>
              <a:srgbClr val="7A7E88"/>
            </a:solidFill>
            <a:prstDash val="solid"/>
          </a:ln>
        </p:spPr>
      </p:sp>
      <p:sp>
        <p:nvSpPr>
          <p:cNvPr id="38" name="Text 36"/>
          <p:cNvSpPr/>
          <p:nvPr/>
        </p:nvSpPr>
        <p:spPr>
          <a:xfrm>
            <a:off x="4663440" y="3310128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低</a:t>
            </a:r>
            <a:endParaRPr lang="en-US" sz="900" dirty="0"/>
          </a:p>
        </p:txBody>
      </p:sp>
      <p:sp>
        <p:nvSpPr>
          <p:cNvPr id="39" name="Text 37"/>
          <p:cNvSpPr/>
          <p:nvPr/>
        </p:nvSpPr>
        <p:spPr>
          <a:xfrm>
            <a:off x="5257800" y="3328416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F4 · YouTube 图标链接到单个视频而非频道 · F6b/6c · Wix 平台限制性能与 SEO；LINE 为海外站唯一即时联系渠道</a:t>
            </a:r>
            <a:endParaRPr lang="en-US" sz="950" dirty="0"/>
          </a:p>
        </p:txBody>
      </p:sp>
      <p:sp>
        <p:nvSpPr>
          <p:cNvPr id="40" name="Shape 38"/>
          <p:cNvSpPr/>
          <p:nvPr/>
        </p:nvSpPr>
        <p:spPr>
          <a:xfrm>
            <a:off x="4663440" y="3840480"/>
            <a:ext cx="502920" cy="384048"/>
          </a:xfrm>
          <a:prstGeom prst="rect">
            <a:avLst/>
          </a:prstGeom>
          <a:solidFill>
            <a:srgbClr val="1F7A4D"/>
          </a:solidFill>
          <a:ln w="12700">
            <a:solidFill>
              <a:srgbClr val="1F7A4D"/>
            </a:solidFill>
            <a:prstDash val="solid"/>
          </a:ln>
        </p:spPr>
      </p:sp>
      <p:sp>
        <p:nvSpPr>
          <p:cNvPr id="41" name="Text 39"/>
          <p:cNvSpPr/>
          <p:nvPr/>
        </p:nvSpPr>
        <p:spPr>
          <a:xfrm>
            <a:off x="4663440" y="3840480"/>
            <a:ext cx="50292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优势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5257800" y="3858768"/>
            <a:ext cx="347472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F8 · 英文内容体系已经存在且质量不错——差距不在内容量，在呈现与转化</a:t>
            </a:r>
            <a:endParaRPr lang="en-US" sz="9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06 · 新版 vs 现状 · 同一工具 · 同一设置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样例已经比现状快了，上线后还会更快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850" dirty="0"/>
          </a:p>
        </p:txBody>
      </p:sp>
      <p:graphicFrame>
        <p:nvGraphicFramePr>
          <p:cNvPr id="7" name="Chart 0" descr=""/>
          <p:cNvGraphicFramePr/>
          <p:nvPr/>
        </p:nvGraphicFramePr>
        <p:xfrm>
          <a:off x="457200" y="1188720"/>
          <a:ext cx="411480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graphicFrame>
        <p:nvGraphicFramePr>
          <p:cNvPr id="8" name="Chart 1" descr=""/>
          <p:cNvGraphicFramePr/>
          <p:nvPr/>
        </p:nvGraphicFramePr>
        <p:xfrm>
          <a:off x="4663440" y="1188720"/>
          <a:ext cx="4023360" cy="274320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 5"/>
          <p:cNvSpPr/>
          <p:nvPr/>
        </p:nvSpPr>
        <p:spPr>
          <a:xfrm>
            <a:off x="457200" y="4023360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请求数 38–251 → 22–31 · 主线程阻塞 2–628 ms → 0–30 ms · 布局偏移 0–0.797 → 0.00 · 最佳实践 / SEO → 100 / 100 · 转化入口：无 → 每站 2–4 个（3D 配置器、回本计算器、经销商申请、六步询价、购物车与结账）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07 · 参考标杆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我们对标了谁 · 结构一比一，颜色与 Logo 统一为大银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29768" y="1161288"/>
            <a:ext cx="2706624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8" name="Image 0" descr="research/deck/ref-dartshopper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88720"/>
            <a:ext cx="2651760" cy="173736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dartshopper.com</a:t>
            </a:r>
            <a:endParaRPr lang="en-US" sz="1200" dirty="0"/>
          </a:p>
        </p:txBody>
      </p:sp>
      <p:sp>
        <p:nvSpPr>
          <p:cNvPr id="10" name="Text 7"/>
          <p:cNvSpPr/>
          <p:nvPr/>
        </p:nvSpPr>
        <p:spPr>
          <a:xfrm>
            <a:off x="457200" y="32735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欧洲最大飞镖电商 → DARTMAN 首页：信任条、搜索、分类导航、轮播、场景、产品卡、视频、SEO</a:t>
            </a:r>
            <a:endParaRPr lang="en-US" sz="950" dirty="0"/>
          </a:p>
        </p:txBody>
      </p:sp>
      <p:sp>
        <p:nvSpPr>
          <p:cNvPr id="11" name="Shape 8"/>
          <p:cNvSpPr/>
          <p:nvPr/>
        </p:nvSpPr>
        <p:spPr>
          <a:xfrm>
            <a:off x="3218688" y="1161288"/>
            <a:ext cx="2706624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2" name="Image 1" descr="research/deck/ref-dartscorner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3246120" y="1188720"/>
            <a:ext cx="2651760" cy="173736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24612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dartscorner.com</a:t>
            </a:r>
            <a:endParaRPr lang="en-US" sz="1200" dirty="0"/>
          </a:p>
        </p:txBody>
      </p:sp>
      <p:sp>
        <p:nvSpPr>
          <p:cNvPr id="14" name="Text 10"/>
          <p:cNvSpPr/>
          <p:nvPr/>
        </p:nvSpPr>
        <p:spPr>
          <a:xfrm>
            <a:off x="3246120" y="32735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镖盘列表页 → DAYIN Sport：黑色导航、精选方块、侧栏筛选、库存 / SKU、加入购物车、加载更多</a:t>
            </a:r>
            <a:endParaRPr lang="en-US" sz="950" dirty="0"/>
          </a:p>
        </p:txBody>
      </p:sp>
      <p:sp>
        <p:nvSpPr>
          <p:cNvPr id="15" name="Shape 11"/>
          <p:cNvSpPr/>
          <p:nvPr/>
        </p:nvSpPr>
        <p:spPr>
          <a:xfrm>
            <a:off x="6007608" y="1161288"/>
            <a:ext cx="2706624" cy="179222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6" name="Image 2" descr="research/deck/ref-protolabs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6035040" y="1188720"/>
            <a:ext cx="2651760" cy="1737360"/>
          </a:xfrm>
          <a:prstGeom prst="rect">
            <a:avLst/>
          </a:prstGeom>
        </p:spPr>
      </p:pic>
      <p:sp>
        <p:nvSpPr>
          <p:cNvPr id="17" name="Text 12"/>
          <p:cNvSpPr/>
          <p:nvPr/>
        </p:nvSpPr>
        <p:spPr>
          <a:xfrm>
            <a:off x="6035040" y="3017520"/>
            <a:ext cx="265176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protolabs.com</a:t>
            </a:r>
            <a:endParaRPr lang="en-US" sz="1200" dirty="0"/>
          </a:p>
        </p:txBody>
      </p:sp>
      <p:sp>
        <p:nvSpPr>
          <p:cNvPr id="18" name="Text 13"/>
          <p:cNvSpPr/>
          <p:nvPr/>
        </p:nvSpPr>
        <p:spPr>
          <a:xfrm>
            <a:off x="6035040" y="3273552"/>
            <a:ext cx="2651760" cy="7315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制造业 B2B 标杆 → 大银制造：即时报价、认证前置、工艺卡、材料表、四步流程</a:t>
            </a:r>
            <a:endParaRPr lang="en-US" sz="950" dirty="0"/>
          </a:p>
        </p:txBody>
      </p:sp>
      <p:sp>
        <p:nvSpPr>
          <p:cNvPr id="19" name="Shape 14"/>
          <p:cNvSpPr/>
          <p:nvPr/>
        </p:nvSpPr>
        <p:spPr>
          <a:xfrm>
            <a:off x="457200" y="4069080"/>
            <a:ext cx="8229600" cy="502920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20" name="Text 15"/>
          <p:cNvSpPr/>
          <p:nvPr/>
        </p:nvSpPr>
        <p:spPr>
          <a:xfrm>
            <a:off x="548640" y="4069080"/>
            <a:ext cx="804672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三个站统一：大银橙 #E8571F · DAYIN 字标 + 子品牌（DARTMAN / SPORT）· 所有图片来自贵司素材或以贵司产品图为参考生成，未使用标杆网站的图片或产品数据</a:t>
            </a:r>
            <a:endParaRPr lang="en-US" sz="105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08 · 样例一 · DARTMAN Games · dartmangames.com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 Games：把三个数字卖出去。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EDmini 的卖点不是“电子飞镖机”，而是 11 cm 机头、65 kg、一人免工具安装。新站按 dartshopper.com 的结构搭建——酒吧老板一眼就知道这是一个“能下单”的品牌站。8 页已完成。</a:t>
            </a:r>
            <a:endParaRPr lang="en-US" sz="105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首页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三帧轮播、三个推广位、六个热门分类、八种场景、精选产品卡（五种配色 + 配件）、双横幅、13 款游戏、视频、SEO 文案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EDmini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3D 配置器 + 实拍图、滚动转台 72 帧、规格表、三箱装运、85/180 台装柜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Games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13 款游戏、eDARTS App、SDBplay 2、运营工具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For venues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回本计算器（价格由用户输入）、联赛飞轮、咨询表单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Dealers / Locations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三级经销商方案与申请、全球场地地图（示例数据已标注）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About / Contact / Before-after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1989 → 2024 时间线、三地地址、新旧首页对比滑块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864608" y="1115568"/>
            <a:ext cx="384962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0" descr="research/deck/pg-dartman-0-t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92040" y="1143000"/>
            <a:ext cx="3794760" cy="2377440"/>
          </a:xfrm>
          <a:prstGeom prst="rect">
            <a:avLst/>
          </a:prstGeom>
        </p:spPr>
      </p:pic>
      <p:pic>
        <p:nvPicPr>
          <p:cNvPr id="11" name="Image 1" descr="research/deck/qr-dartman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3657600"/>
            <a:ext cx="868680" cy="868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852160" y="37033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扫码打开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https://aailee779-coder.github.io/dartman/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5852160" y="4114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机台尺寸、重量、装柜量、游戏列表来自 dartmangames.com；经销商条款、场地数据、配件价格为示例；场景图由 AI 基于贵司产品图生成，机台外观未改动。</a:t>
            </a:r>
            <a:endParaRPr lang="en-US" sz="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A · 1200px 桌面截图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 Games · 全部 8 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29768" y="111556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8" name="Image 0" descr="research/deck/pg-dartman-0-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1965960" cy="1417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59689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532888" y="111556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research/deck/pg-dartman-1-fu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0" y="1143000"/>
            <a:ext cx="1965960" cy="1417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560320" y="259689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EDmini · 转台 + 3D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4636008" y="111556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4" name="Image 2" descr="research/deck/pg-dartman-2-full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4663440" y="1143000"/>
            <a:ext cx="1965960" cy="1417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4663440" y="259689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Games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6739128" y="111556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7" name="Image 3" descr="research/deck/pg-dartman-3-ful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6766560" y="1143000"/>
            <a:ext cx="1965960" cy="1417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6766560" y="259689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For venues · 回本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429768" y="289864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0" name="Image 4" descr="research/deck/pg-dartman-4-full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57200" y="2926080"/>
            <a:ext cx="1965960" cy="1417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457200" y="437997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Dealers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2532888" y="289864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3" name="Image 5" descr="research/deck/pg-dartman-5-full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2560320" y="2926080"/>
            <a:ext cx="1965960" cy="14173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2560320" y="437997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Find a venue</a:t>
            </a:r>
            <a:endParaRPr lang="en-US" sz="900" dirty="0"/>
          </a:p>
        </p:txBody>
      </p:sp>
      <p:sp>
        <p:nvSpPr>
          <p:cNvPr id="25" name="Shape 17"/>
          <p:cNvSpPr/>
          <p:nvPr/>
        </p:nvSpPr>
        <p:spPr>
          <a:xfrm>
            <a:off x="4636008" y="289864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6" name="Image 6" descr="research/deck/pg-dartman-6-full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4663440" y="2926080"/>
            <a:ext cx="1965960" cy="141732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4663440" y="437997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About</a:t>
            </a:r>
            <a:endParaRPr lang="en-US" sz="900" dirty="0"/>
          </a:p>
        </p:txBody>
      </p:sp>
      <p:sp>
        <p:nvSpPr>
          <p:cNvPr id="28" name="Shape 19"/>
          <p:cNvSpPr/>
          <p:nvPr/>
        </p:nvSpPr>
        <p:spPr>
          <a:xfrm>
            <a:off x="6739128" y="2898648"/>
            <a:ext cx="202082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9" name="Image 7" descr="research/deck/pg-dartman-7-full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6766560" y="2926080"/>
            <a:ext cx="1965960" cy="141732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6766560" y="4379976"/>
            <a:ext cx="19659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Contact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09 · 样例二 · 大银制造 · madeindayin.com / .cn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大银制造：越南是正门，不是脚注。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海外采购经理三秒内要知道三件事：你能做什么、在哪里做、怎么开始。新站按 protolabs.com 的结构搭建：即时报价、认证前置、工艺卡、材料表、两基地、四步流程；“中国 + 越南”成为一级导航。英文 8 页 + 中文首页。</a:t>
            </a:r>
            <a:endParaRPr lang="en-US" sz="105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首页（中英）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报价优先：四个工艺卡、六项配套能力、材料表、两基地卡、六大行业、四步流程、三篇资源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China + Vietnam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三类买家压力、逐项对照表、四问推荐器、官网 FAQ 原文、3D 地球仪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Capabilities / Products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模具 / 注塑 / 二次加工 / 电子组装 / 品控；自有产品用贵司现有图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Quality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ISO 9001（大银 + 嘉旭）、GRS、SMTA、SCAN、Target 验厂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RFQ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六步询价：项目类型 → 阶段与年量 → 基地 → 材料工艺 → 图纸 → 联系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About / Contact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1989 → 2024 时间线、三地地址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864608" y="1115568"/>
            <a:ext cx="384962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0" descr="research/deck/pg-dayin-0-t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92040" y="1143000"/>
            <a:ext cx="3794760" cy="2377440"/>
          </a:xfrm>
          <a:prstGeom prst="rect">
            <a:avLst/>
          </a:prstGeom>
        </p:spPr>
      </p:pic>
      <p:pic>
        <p:nvPicPr>
          <p:cNvPr id="11" name="Image 1" descr="research/deck/qr-vietnam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3657600"/>
            <a:ext cx="868680" cy="868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852160" y="37033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扫码打开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https://aailee779-coder.github.io/dayin/vietnam/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5852160" y="4114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厂区、机台、认证、物流距离均来自 madeindayin.com；越南机台数标注“待确认”；厂区照片为贵司实拍，模具 / 颗粒 / 港口三张为 AI 示意图（已注明）。</a:t>
            </a:r>
            <a:endParaRPr lang="en-US" sz="8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B · 1200px 桌面截图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大银制造 · 全部 9 页（英文 8 页 + 中文首页）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29768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8" name="Image 0" descr="research/deck/pg-dayin-0-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1554480" cy="141732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12264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research/deck/pg-dayin-1-fu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39696" y="1143000"/>
            <a:ext cx="1554480" cy="141732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39696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China + Vietnam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794760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4" name="Image 2" descr="research/deck/pg-dayin-2-full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22192" y="1143000"/>
            <a:ext cx="1554480" cy="141732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822192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Capabilities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5477256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7" name="Image 3" descr="research/deck/pg-dayin-3-ful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504688" y="1143000"/>
            <a:ext cx="1554480" cy="141732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504688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Products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7159752" y="111556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0" name="Image 4" descr="research/deck/pg-dayin-4-full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87184" y="1143000"/>
            <a:ext cx="1554480" cy="141732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87184" y="259689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Quality</a:t>
            </a:r>
            <a:endParaRPr lang="en-US" sz="900" dirty="0"/>
          </a:p>
        </p:txBody>
      </p:sp>
      <p:sp>
        <p:nvSpPr>
          <p:cNvPr id="22" name="Shape 15"/>
          <p:cNvSpPr/>
          <p:nvPr/>
        </p:nvSpPr>
        <p:spPr>
          <a:xfrm>
            <a:off x="429768" y="289864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3" name="Image 5" descr="research/deck/pg-dayin-5-full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457200" y="2926080"/>
            <a:ext cx="1554480" cy="1417320"/>
          </a:xfrm>
          <a:prstGeom prst="rect">
            <a:avLst/>
          </a:prstGeom>
        </p:spPr>
      </p:pic>
      <p:sp>
        <p:nvSpPr>
          <p:cNvPr id="24" name="Text 16"/>
          <p:cNvSpPr/>
          <p:nvPr/>
        </p:nvSpPr>
        <p:spPr>
          <a:xfrm>
            <a:off x="457200" y="437997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About</a:t>
            </a:r>
            <a:endParaRPr lang="en-US" sz="900" dirty="0"/>
          </a:p>
        </p:txBody>
      </p:sp>
      <p:sp>
        <p:nvSpPr>
          <p:cNvPr id="25" name="Shape 17"/>
          <p:cNvSpPr/>
          <p:nvPr/>
        </p:nvSpPr>
        <p:spPr>
          <a:xfrm>
            <a:off x="2112264" y="289864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6" name="Image 6" descr="research/deck/pg-dayin-6-full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2139696" y="2926080"/>
            <a:ext cx="1554480" cy="1417320"/>
          </a:xfrm>
          <a:prstGeom prst="rect">
            <a:avLst/>
          </a:prstGeom>
        </p:spPr>
      </p:pic>
      <p:sp>
        <p:nvSpPr>
          <p:cNvPr id="27" name="Text 18"/>
          <p:cNvSpPr/>
          <p:nvPr/>
        </p:nvSpPr>
        <p:spPr>
          <a:xfrm>
            <a:off x="2139696" y="437997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Contact</a:t>
            </a:r>
            <a:endParaRPr lang="en-US" sz="900" dirty="0"/>
          </a:p>
        </p:txBody>
      </p:sp>
      <p:sp>
        <p:nvSpPr>
          <p:cNvPr id="28" name="Shape 19"/>
          <p:cNvSpPr/>
          <p:nvPr/>
        </p:nvSpPr>
        <p:spPr>
          <a:xfrm>
            <a:off x="3794760" y="289864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9" name="Image 7" descr="research/deck/pg-dayin-7-full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3822192" y="2926080"/>
            <a:ext cx="1554480" cy="1417320"/>
          </a:xfrm>
          <a:prstGeom prst="rect">
            <a:avLst/>
          </a:prstGeom>
        </p:spPr>
      </p:pic>
      <p:sp>
        <p:nvSpPr>
          <p:cNvPr id="30" name="Text 20"/>
          <p:cNvSpPr/>
          <p:nvPr/>
        </p:nvSpPr>
        <p:spPr>
          <a:xfrm>
            <a:off x="3822192" y="437997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RFQ · 六步询价</a:t>
            </a:r>
            <a:endParaRPr lang="en-US" sz="900" dirty="0"/>
          </a:p>
        </p:txBody>
      </p:sp>
      <p:sp>
        <p:nvSpPr>
          <p:cNvPr id="31" name="Shape 21"/>
          <p:cNvSpPr/>
          <p:nvPr/>
        </p:nvSpPr>
        <p:spPr>
          <a:xfrm>
            <a:off x="5477256" y="2898648"/>
            <a:ext cx="1609344" cy="147218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32" name="Image 8" descr="research/deck/pg-dayin-8-full.jp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5504688" y="2926080"/>
            <a:ext cx="1554480" cy="1417320"/>
          </a:xfrm>
          <a:prstGeom prst="rect">
            <a:avLst/>
          </a:prstGeom>
        </p:spPr>
      </p:pic>
      <p:sp>
        <p:nvSpPr>
          <p:cNvPr id="33" name="Text 22"/>
          <p:cNvSpPr/>
          <p:nvPr/>
        </p:nvSpPr>
        <p:spPr>
          <a:xfrm>
            <a:off x="5504688" y="437997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中文首页 /zh/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 · 样例三 · DAYIN Sport 商城 · dayinsport.com 消费者方向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DAYIN Sport：把代工厂变成零售品牌。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457200" y="1143000"/>
            <a:ext cx="4206240" cy="10058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dayinsport.com 目前是 B2B 代工站，与 madeindayin.com/sporting 重叠。我们建议把它转向面向海外家庭玩家的零售商城——“做了 1200 万块板的工厂，直接卖给你”。样例按 dartscorner.com 的结构搭建，24 个 SKU，完整购物流程。</a:t>
            </a:r>
            <a:endParaRPr lang="en-US" sz="1050" dirty="0"/>
          </a:p>
        </p:txBody>
      </p:sp>
      <p:graphicFrame>
        <p:nvGraphicFramePr>
          <p:cNvPr id="1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194560"/>
          <a:ext cx="4206240" cy="914400"/>
        </p:xfrm>
        <a:graphic>
          <a:graphicData uri="http://schemas.openxmlformats.org/drawingml/2006/table">
            <a:tbl>
              <a:tblPr/>
              <a:tblGrid>
                <a:gridCol w="1005840"/>
                <a:gridCol w="3200400"/>
              </a:tblGrid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首页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三帧轮播、精选镖盘 / 系列 / 自动计分方块、八种场景、新品、系列墙、工厂数据、九项个性化定制、内容卡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Collection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Darts Corner 式列表：产品 / 系列 / 功能 / 价格筛选（带数量）、五种排序、每页 12 个 + 加载更多、库存与 SKU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Product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图片画廊、颜色与套装、数量、加入购物车、规格折叠、四款电子板对比、搭配推荐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购物车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侧滑抽屉、数量增减、满 150 美元包邮进度条、配件推荐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Checkout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信息 → 配送 → 支付 → 完成，订单摘要，生成订单号（演示）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5603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15161B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Support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物流 / 退换 / 保修 / App / 批发，客服表单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9" name="Shape 6"/>
          <p:cNvSpPr/>
          <p:nvPr/>
        </p:nvSpPr>
        <p:spPr>
          <a:xfrm>
            <a:off x="4864608" y="1115568"/>
            <a:ext cx="384962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0" name="Image 0" descr="research/deck/pg-shop-0-top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92040" y="1143000"/>
            <a:ext cx="3794760" cy="2377440"/>
          </a:xfrm>
          <a:prstGeom prst="rect">
            <a:avLst/>
          </a:prstGeom>
        </p:spPr>
      </p:pic>
      <p:pic>
        <p:nvPicPr>
          <p:cNvPr id="11" name="Image 1" descr="research/deck/qr-shop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4892040" y="3657600"/>
            <a:ext cx="868680" cy="868680"/>
          </a:xfrm>
          <a:prstGeom prst="rect">
            <a:avLst/>
          </a:prstGeom>
        </p:spPr>
      </p:pic>
      <p:sp>
        <p:nvSpPr>
          <p:cNvPr id="12" name="Text 7"/>
          <p:cNvSpPr/>
          <p:nvPr/>
        </p:nvSpPr>
        <p:spPr>
          <a:xfrm>
            <a:off x="5852160" y="370332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扫码打开</a:t>
            </a:r>
            <a:endParaRPr lang="en-US" sz="950" dirty="0"/>
          </a:p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https://aailee779-coder.github.io/shop/</a:t>
            </a:r>
            <a:endParaRPr lang="en-US" sz="950" dirty="0"/>
          </a:p>
        </p:txBody>
      </p:sp>
      <p:sp>
        <p:nvSpPr>
          <p:cNvPr id="13" name="Text 8"/>
          <p:cNvSpPr/>
          <p:nvPr/>
        </p:nvSpPr>
        <p:spPr>
          <a:xfrm>
            <a:off x="5852160" y="4114800"/>
            <a:ext cx="28346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品类来自 dayinsport.com 六条产品线；商品名、价格、库存为示例（页面标注 Demo）；没有放任何虚构的用户评价；场景图由 AI 基于贵司产品图生成。</a:t>
            </a:r>
            <a:endParaRPr lang="en-US" sz="8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C · 1200px 桌面截图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DAYIN Sport 商城 · 全部 5 页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29768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8" name="Image 0" descr="research/deck/pg-shop-0-full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1143000"/>
            <a:ext cx="1554480" cy="2377440"/>
          </a:xfrm>
          <a:prstGeom prst="rect">
            <a:avLst/>
          </a:prstGeom>
        </p:spPr>
      </p:pic>
      <p:sp>
        <p:nvSpPr>
          <p:cNvPr id="9" name="Text 6"/>
          <p:cNvSpPr/>
          <p:nvPr/>
        </p:nvSpPr>
        <p:spPr>
          <a:xfrm>
            <a:off x="457200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首页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2112264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1" name="Image 1" descr="research/deck/pg-shop-1-full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139696" y="1143000"/>
            <a:ext cx="1554480" cy="2377440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2139696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Collection · 筛选排序</a:t>
            </a:r>
            <a:endParaRPr lang="en-US" sz="900" dirty="0"/>
          </a:p>
        </p:txBody>
      </p:sp>
      <p:sp>
        <p:nvSpPr>
          <p:cNvPr id="13" name="Shape 9"/>
          <p:cNvSpPr/>
          <p:nvPr/>
        </p:nvSpPr>
        <p:spPr>
          <a:xfrm>
            <a:off x="3794760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4" name="Image 2" descr="research/deck/pg-shop-2-full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822192" y="1143000"/>
            <a:ext cx="1554480" cy="2377440"/>
          </a:xfrm>
          <a:prstGeom prst="rect">
            <a:avLst/>
          </a:prstGeom>
        </p:spPr>
      </p:pic>
      <p:sp>
        <p:nvSpPr>
          <p:cNvPr id="15" name="Text 10"/>
          <p:cNvSpPr/>
          <p:nvPr/>
        </p:nvSpPr>
        <p:spPr>
          <a:xfrm>
            <a:off x="3822192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Product · 详情页</a:t>
            </a:r>
            <a:endParaRPr lang="en-US" sz="900" dirty="0"/>
          </a:p>
        </p:txBody>
      </p:sp>
      <p:sp>
        <p:nvSpPr>
          <p:cNvPr id="16" name="Shape 11"/>
          <p:cNvSpPr/>
          <p:nvPr/>
        </p:nvSpPr>
        <p:spPr>
          <a:xfrm>
            <a:off x="5477256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7" name="Image 3" descr="research/deck/pg-shop-3-full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5504688" y="1143000"/>
            <a:ext cx="1554480" cy="237744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504688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Checkout · 三步结账</a:t>
            </a:r>
            <a:endParaRPr lang="en-US" sz="900" dirty="0"/>
          </a:p>
        </p:txBody>
      </p:sp>
      <p:sp>
        <p:nvSpPr>
          <p:cNvPr id="19" name="Shape 13"/>
          <p:cNvSpPr/>
          <p:nvPr/>
        </p:nvSpPr>
        <p:spPr>
          <a:xfrm>
            <a:off x="7159752" y="1115568"/>
            <a:ext cx="1609344" cy="243230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0" name="Image 4" descr="research/deck/pg-shop-4-full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7187184" y="1143000"/>
            <a:ext cx="1554480" cy="2377440"/>
          </a:xfrm>
          <a:prstGeom prst="rect">
            <a:avLst/>
          </a:prstGeom>
        </p:spPr>
      </p:pic>
      <p:sp>
        <p:nvSpPr>
          <p:cNvPr id="21" name="Text 14"/>
          <p:cNvSpPr/>
          <p:nvPr/>
        </p:nvSpPr>
        <p:spPr>
          <a:xfrm>
            <a:off x="7187184" y="3557016"/>
            <a:ext cx="15544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Support</a:t>
            </a:r>
            <a:endParaRPr lang="en-US" sz="900" dirty="0"/>
          </a:p>
        </p:txBody>
      </p:sp>
      <p:sp>
        <p:nvSpPr>
          <p:cNvPr id="22" name="Text 15"/>
          <p:cNvSpPr/>
          <p:nvPr/>
        </p:nvSpPr>
        <p:spPr>
          <a:xfrm>
            <a:off x="457200" y="39319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购物车抽屉、搜索面板为页面内组件；扫码可直接操作。</a:t>
            </a:r>
            <a:endParaRPr lang="en-US" sz="9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 · 已完成 与 待做 · 诚实的清单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做了什么，还差什么，谁来做。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</a:t>
            </a:r>
            <a:endParaRPr lang="en-US" sz="85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5120640"/>
                <a:gridCol w="822960"/>
                <a:gridCol w="1188720"/>
              </a:tblGrid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站点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项目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状态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责任方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DARTMAN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Dartshopper 结构首页、8 页、3D 配置器、滚动转台、回本计算器、经销商申请、场地地图、11 张 AI 场景图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7A4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已完成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表单后端与垃圾过滤 · 从 Wix 迁出（DNS、301、Search Console）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上线前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 + 贵司授权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官方联系邮箱、YouTube 频道、LinkedIn 主页 · 真实场地与经销商数据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8102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待提供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大银制造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Protolabs 结构首页（中英）、8 个英文页面、地球仪、推荐器、六步询价、材料表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7A4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已完成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.cn 全站中文版 · 询价路由 / CRM · 备案核对、百度站长、Search Console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上线前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 + 贵司授权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越南机台数确认、证书扫描件、官方邮箱 · 两厂实拍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8102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待提供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 / BBK 到厂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DAYIN Sport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Darts Corner 结构首页与列表页、24 个 SKU、筛选 / 搜索、购物车、结账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7A4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已完成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支付接入（Stripe / PayPal）、税费物流规则、订单邮件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上线前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正式商品目录、价格、库存、保修 · 海外仓 / 直邮方案 · 真实评价接入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C8102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待提供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贵司决策 · BBK 配置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社媒与内容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LinkedIn ×3、Instagram ×3、抖音脚本 ×2、视频号脚本 ×1、30 天日历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1F7A4D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已完成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BBK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24688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账号开通与认证（抖音企业号、视频号、LinkedIn、Meta）· 首月 12 条内容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b="1" dirty="0">
                          <a:solidFill>
                            <a:srgbClr val="7A7E88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合作后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85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贵司名义 · BBK 操作</a:t>
                      </a:r>
                      <a:endParaRPr lang="en-US" sz="85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 · 时间表 · 三个里程碑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确认后 12 周，三个站全部上线。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</a:t>
            </a:r>
            <a:endParaRPr lang="en-US" sz="850" dirty="0"/>
          </a:p>
        </p:txBody>
      </p:sp>
      <p:sp>
        <p:nvSpPr>
          <p:cNvPr id="7" name="Text 5"/>
          <p:cNvSpPr/>
          <p:nvPr/>
        </p:nvSpPr>
        <p:spPr>
          <a:xfrm>
            <a:off x="237744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</a:t>
            </a:r>
            <a:endParaRPr lang="en-US" sz="800" dirty="0"/>
          </a:p>
        </p:txBody>
      </p:sp>
      <p:sp>
        <p:nvSpPr>
          <p:cNvPr id="8" name="Shape 6"/>
          <p:cNvSpPr/>
          <p:nvPr/>
        </p:nvSpPr>
        <p:spPr>
          <a:xfrm>
            <a:off x="237744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9" name="Text 7"/>
          <p:cNvSpPr/>
          <p:nvPr/>
        </p:nvSpPr>
        <p:spPr>
          <a:xfrm>
            <a:off x="290322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</a:t>
            </a:r>
            <a:endParaRPr lang="en-US" sz="800" dirty="0"/>
          </a:p>
        </p:txBody>
      </p:sp>
      <p:sp>
        <p:nvSpPr>
          <p:cNvPr id="10" name="Shape 8"/>
          <p:cNvSpPr/>
          <p:nvPr/>
        </p:nvSpPr>
        <p:spPr>
          <a:xfrm>
            <a:off x="290322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342900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3</a:t>
            </a:r>
            <a:endParaRPr lang="en-US" sz="800" dirty="0"/>
          </a:p>
        </p:txBody>
      </p:sp>
      <p:sp>
        <p:nvSpPr>
          <p:cNvPr id="12" name="Shape 10"/>
          <p:cNvSpPr/>
          <p:nvPr/>
        </p:nvSpPr>
        <p:spPr>
          <a:xfrm>
            <a:off x="342900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395478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4</a:t>
            </a:r>
            <a:endParaRPr lang="en-US" sz="800" dirty="0"/>
          </a:p>
        </p:txBody>
      </p:sp>
      <p:sp>
        <p:nvSpPr>
          <p:cNvPr id="14" name="Shape 12"/>
          <p:cNvSpPr/>
          <p:nvPr/>
        </p:nvSpPr>
        <p:spPr>
          <a:xfrm>
            <a:off x="395478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48056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5</a:t>
            </a:r>
            <a:endParaRPr lang="en-US" sz="800" dirty="0"/>
          </a:p>
        </p:txBody>
      </p:sp>
      <p:sp>
        <p:nvSpPr>
          <p:cNvPr id="16" name="Shape 14"/>
          <p:cNvSpPr/>
          <p:nvPr/>
        </p:nvSpPr>
        <p:spPr>
          <a:xfrm>
            <a:off x="448056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7" name="Text 15"/>
          <p:cNvSpPr/>
          <p:nvPr/>
        </p:nvSpPr>
        <p:spPr>
          <a:xfrm>
            <a:off x="500634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6</a:t>
            </a:r>
            <a:endParaRPr lang="en-US" sz="800" dirty="0"/>
          </a:p>
        </p:txBody>
      </p:sp>
      <p:sp>
        <p:nvSpPr>
          <p:cNvPr id="18" name="Shape 16"/>
          <p:cNvSpPr/>
          <p:nvPr/>
        </p:nvSpPr>
        <p:spPr>
          <a:xfrm>
            <a:off x="500634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553212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7</a:t>
            </a:r>
            <a:endParaRPr lang="en-US" sz="800" dirty="0"/>
          </a:p>
        </p:txBody>
      </p:sp>
      <p:sp>
        <p:nvSpPr>
          <p:cNvPr id="20" name="Shape 18"/>
          <p:cNvSpPr/>
          <p:nvPr/>
        </p:nvSpPr>
        <p:spPr>
          <a:xfrm>
            <a:off x="553212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1" name="Text 19"/>
          <p:cNvSpPr/>
          <p:nvPr/>
        </p:nvSpPr>
        <p:spPr>
          <a:xfrm>
            <a:off x="605790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8</a:t>
            </a:r>
            <a:endParaRPr lang="en-US" sz="800" dirty="0"/>
          </a:p>
        </p:txBody>
      </p:sp>
      <p:sp>
        <p:nvSpPr>
          <p:cNvPr id="22" name="Shape 20"/>
          <p:cNvSpPr/>
          <p:nvPr/>
        </p:nvSpPr>
        <p:spPr>
          <a:xfrm>
            <a:off x="605790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3" name="Text 21"/>
          <p:cNvSpPr/>
          <p:nvPr/>
        </p:nvSpPr>
        <p:spPr>
          <a:xfrm>
            <a:off x="658368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9</a:t>
            </a:r>
            <a:endParaRPr lang="en-US" sz="800" dirty="0"/>
          </a:p>
        </p:txBody>
      </p:sp>
      <p:sp>
        <p:nvSpPr>
          <p:cNvPr id="24" name="Shape 22"/>
          <p:cNvSpPr/>
          <p:nvPr/>
        </p:nvSpPr>
        <p:spPr>
          <a:xfrm>
            <a:off x="658368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5" name="Text 23"/>
          <p:cNvSpPr/>
          <p:nvPr/>
        </p:nvSpPr>
        <p:spPr>
          <a:xfrm>
            <a:off x="710946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10</a:t>
            </a:r>
            <a:endParaRPr lang="en-US" sz="800" dirty="0"/>
          </a:p>
        </p:txBody>
      </p:sp>
      <p:sp>
        <p:nvSpPr>
          <p:cNvPr id="26" name="Shape 24"/>
          <p:cNvSpPr/>
          <p:nvPr/>
        </p:nvSpPr>
        <p:spPr>
          <a:xfrm>
            <a:off x="710946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7" name="Text 25"/>
          <p:cNvSpPr/>
          <p:nvPr/>
        </p:nvSpPr>
        <p:spPr>
          <a:xfrm>
            <a:off x="763524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11</a:t>
            </a:r>
            <a:endParaRPr lang="en-US" sz="800" dirty="0"/>
          </a:p>
        </p:txBody>
      </p:sp>
      <p:sp>
        <p:nvSpPr>
          <p:cNvPr id="28" name="Shape 26"/>
          <p:cNvSpPr/>
          <p:nvPr/>
        </p:nvSpPr>
        <p:spPr>
          <a:xfrm>
            <a:off x="763524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29" name="Text 27"/>
          <p:cNvSpPr/>
          <p:nvPr/>
        </p:nvSpPr>
        <p:spPr>
          <a:xfrm>
            <a:off x="8161020" y="1143000"/>
            <a:ext cx="52578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12</a:t>
            </a:r>
            <a:endParaRPr lang="en-US" sz="800" dirty="0"/>
          </a:p>
        </p:txBody>
      </p:sp>
      <p:sp>
        <p:nvSpPr>
          <p:cNvPr id="30" name="Shape 28"/>
          <p:cNvSpPr/>
          <p:nvPr/>
        </p:nvSpPr>
        <p:spPr>
          <a:xfrm>
            <a:off x="8161020" y="1371600"/>
            <a:ext cx="0" cy="2468880"/>
          </a:xfrm>
          <a:prstGeom prst="line">
            <a:avLst/>
          </a:prstGeom>
          <a:noFill/>
          <a:ln w="6350">
            <a:solidFill>
              <a:srgbClr val="E4E6EA"/>
            </a:solidFill>
            <a:prstDash val="solid"/>
          </a:ln>
        </p:spPr>
      </p:sp>
      <p:sp>
        <p:nvSpPr>
          <p:cNvPr id="31" name="Text 29"/>
          <p:cNvSpPr/>
          <p:nvPr/>
        </p:nvSpPr>
        <p:spPr>
          <a:xfrm>
            <a:off x="457200" y="141732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启动 · 素材与数据确认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2377440" y="1444752"/>
            <a:ext cx="1014984" cy="201168"/>
          </a:xfrm>
          <a:prstGeom prst="rect">
            <a:avLst/>
          </a:prstGeom>
          <a:solidFill>
            <a:srgbClr val="9A9EA8"/>
          </a:solidFill>
          <a:ln w="12700">
            <a:solidFill>
              <a:srgbClr val="9A9EA8"/>
            </a:solidFill>
            <a:prstDash val="solid"/>
          </a:ln>
        </p:spPr>
      </p:sp>
      <p:sp>
        <p:nvSpPr>
          <p:cNvPr id="33" name="Text 31"/>
          <p:cNvSpPr/>
          <p:nvPr/>
        </p:nvSpPr>
        <p:spPr>
          <a:xfrm>
            <a:off x="457200" y="172821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到厂拍摄（东莞）</a:t>
            </a:r>
            <a:endParaRPr lang="en-US" sz="900" dirty="0"/>
          </a:p>
        </p:txBody>
      </p:sp>
      <p:sp>
        <p:nvSpPr>
          <p:cNvPr id="34" name="Shape 32"/>
          <p:cNvSpPr/>
          <p:nvPr/>
        </p:nvSpPr>
        <p:spPr>
          <a:xfrm>
            <a:off x="2903220" y="1755648"/>
            <a:ext cx="489204" cy="201168"/>
          </a:xfrm>
          <a:prstGeom prst="rect">
            <a:avLst/>
          </a:prstGeom>
          <a:solidFill>
            <a:srgbClr val="9A9EA8"/>
          </a:solidFill>
          <a:ln w="12700">
            <a:solidFill>
              <a:srgbClr val="9A9EA8"/>
            </a:solidFill>
            <a:prstDash val="solid"/>
          </a:ln>
        </p:spPr>
      </p:sp>
      <p:sp>
        <p:nvSpPr>
          <p:cNvPr id="35" name="Text 33"/>
          <p:cNvSpPr/>
          <p:nvPr/>
        </p:nvSpPr>
        <p:spPr>
          <a:xfrm>
            <a:off x="457200" y="203911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阶段一 · DARTMAN 上线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2377440" y="2066544"/>
            <a:ext cx="2066544" cy="20116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37" name="Text 35"/>
          <p:cNvSpPr/>
          <p:nvPr/>
        </p:nvSpPr>
        <p:spPr>
          <a:xfrm>
            <a:off x="4480560" y="203911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★ 第 4 周 · 10/25</a:t>
            </a:r>
            <a:endParaRPr lang="en-US" sz="800" dirty="0"/>
          </a:p>
        </p:txBody>
      </p:sp>
      <p:sp>
        <p:nvSpPr>
          <p:cNvPr id="38" name="Text 36"/>
          <p:cNvSpPr/>
          <p:nvPr/>
        </p:nvSpPr>
        <p:spPr>
          <a:xfrm>
            <a:off x="457200" y="2350008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阶段二 · 大银制造 .com + .cn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3954780" y="2377440"/>
            <a:ext cx="2066544" cy="20116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40" name="Text 38"/>
          <p:cNvSpPr/>
          <p:nvPr/>
        </p:nvSpPr>
        <p:spPr>
          <a:xfrm>
            <a:off x="6057900" y="2350008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★ 第 7 周 · 11/15</a:t>
            </a:r>
            <a:endParaRPr lang="en-US" sz="800" dirty="0"/>
          </a:p>
        </p:txBody>
      </p:sp>
      <p:sp>
        <p:nvSpPr>
          <p:cNvPr id="41" name="Text 39"/>
          <p:cNvSpPr/>
          <p:nvPr/>
        </p:nvSpPr>
        <p:spPr>
          <a:xfrm>
            <a:off x="457200" y="2660904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阶段三 · DAYIN Sport 商城</a:t>
            </a:r>
            <a:endParaRPr lang="en-US" sz="900" dirty="0"/>
          </a:p>
        </p:txBody>
      </p:sp>
      <p:sp>
        <p:nvSpPr>
          <p:cNvPr id="42" name="Shape 40"/>
          <p:cNvSpPr/>
          <p:nvPr/>
        </p:nvSpPr>
        <p:spPr>
          <a:xfrm>
            <a:off x="5532120" y="2688336"/>
            <a:ext cx="1540764" cy="201168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43" name="Text 41"/>
          <p:cNvSpPr/>
          <p:nvPr/>
        </p:nvSpPr>
        <p:spPr>
          <a:xfrm>
            <a:off x="7109460" y="2660904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★ 第 9 周 · 11/29</a:t>
            </a:r>
            <a:endParaRPr lang="en-US" sz="800" dirty="0"/>
          </a:p>
        </p:txBody>
      </p:sp>
      <p:sp>
        <p:nvSpPr>
          <p:cNvPr id="44" name="Text 42"/>
          <p:cNvSpPr/>
          <p:nvPr/>
        </p:nvSpPr>
        <p:spPr>
          <a:xfrm>
            <a:off x="457200" y="2971800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社媒账号 · 首月内容</a:t>
            </a:r>
            <a:endParaRPr lang="en-US" sz="900" dirty="0"/>
          </a:p>
        </p:txBody>
      </p:sp>
      <p:sp>
        <p:nvSpPr>
          <p:cNvPr id="45" name="Shape 43"/>
          <p:cNvSpPr/>
          <p:nvPr/>
        </p:nvSpPr>
        <p:spPr>
          <a:xfrm>
            <a:off x="3429000" y="2999232"/>
            <a:ext cx="3118104" cy="201168"/>
          </a:xfrm>
          <a:prstGeom prst="rect">
            <a:avLst/>
          </a:prstGeom>
          <a:solidFill>
            <a:srgbClr val="4A4D57"/>
          </a:solidFill>
          <a:ln w="12700">
            <a:solidFill>
              <a:srgbClr val="4A4D57"/>
            </a:solidFill>
            <a:prstDash val="solid"/>
          </a:ln>
        </p:spPr>
      </p:sp>
      <p:sp>
        <p:nvSpPr>
          <p:cNvPr id="46" name="Text 44"/>
          <p:cNvSpPr/>
          <p:nvPr/>
        </p:nvSpPr>
        <p:spPr>
          <a:xfrm>
            <a:off x="457200" y="3282696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投放（Google / Meta / 抖音）</a:t>
            </a:r>
            <a:endParaRPr lang="en-US" sz="900" dirty="0"/>
          </a:p>
        </p:txBody>
      </p:sp>
      <p:sp>
        <p:nvSpPr>
          <p:cNvPr id="47" name="Shape 45"/>
          <p:cNvSpPr/>
          <p:nvPr/>
        </p:nvSpPr>
        <p:spPr>
          <a:xfrm>
            <a:off x="4480560" y="3310128"/>
            <a:ext cx="4169664" cy="201168"/>
          </a:xfrm>
          <a:prstGeom prst="rect">
            <a:avLst/>
          </a:prstGeom>
          <a:solidFill>
            <a:srgbClr val="4A4D57"/>
          </a:solidFill>
          <a:ln w="12700">
            <a:solidFill>
              <a:srgbClr val="4A4D57"/>
            </a:solidFill>
            <a:prstDash val="solid"/>
          </a:ln>
        </p:spPr>
      </p:sp>
      <p:sp>
        <p:nvSpPr>
          <p:cNvPr id="48" name="Text 46"/>
          <p:cNvSpPr/>
          <p:nvPr/>
        </p:nvSpPr>
        <p:spPr>
          <a:xfrm>
            <a:off x="457200" y="3593592"/>
            <a:ext cx="1874520" cy="2560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数据看板 · 周报</a:t>
            </a:r>
            <a:endParaRPr lang="en-US" sz="900" dirty="0"/>
          </a:p>
        </p:txBody>
      </p:sp>
      <p:sp>
        <p:nvSpPr>
          <p:cNvPr id="49" name="Shape 47"/>
          <p:cNvSpPr/>
          <p:nvPr/>
        </p:nvSpPr>
        <p:spPr>
          <a:xfrm>
            <a:off x="3954780" y="3621024"/>
            <a:ext cx="4695444" cy="201168"/>
          </a:xfrm>
          <a:prstGeom prst="rect">
            <a:avLst/>
          </a:prstGeom>
          <a:solidFill>
            <a:srgbClr val="4A4D57"/>
          </a:solidFill>
          <a:ln w="12700">
            <a:solidFill>
              <a:srgbClr val="4A4D57"/>
            </a:solidFill>
            <a:prstDash val="solid"/>
          </a:ln>
        </p:spPr>
      </p:sp>
      <p:sp>
        <p:nvSpPr>
          <p:cNvPr id="50" name="Text 48"/>
          <p:cNvSpPr/>
          <p:nvPr/>
        </p:nvSpPr>
        <p:spPr>
          <a:xfrm>
            <a:off x="8686800" y="3593592"/>
            <a:ext cx="173736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★ 第 12 周 · 验收</a:t>
            </a:r>
            <a:endParaRPr lang="en-US" sz="800" dirty="0"/>
          </a:p>
        </p:txBody>
      </p:sp>
      <p:sp>
        <p:nvSpPr>
          <p:cNvPr id="51" name="Text 49"/>
          <p:cNvSpPr/>
          <p:nvPr/>
        </p:nvSpPr>
        <p:spPr>
          <a:xfrm>
            <a:off x="45720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1–2 周 · 确认与收集</a:t>
            </a:r>
            <a:endParaRPr lang="en-US" sz="950" dirty="0"/>
          </a:p>
        </p:txBody>
      </p:sp>
      <p:sp>
        <p:nvSpPr>
          <p:cNvPr id="52" name="Text 50"/>
          <p:cNvSpPr/>
          <p:nvPr/>
        </p:nvSpPr>
        <p:spPr>
          <a:xfrm>
            <a:off x="457200" y="42245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三个问题的答案、邮箱与账号、证书、产品目录；到厂拍摄。</a:t>
            </a:r>
            <a:endParaRPr lang="en-US" sz="850" dirty="0"/>
          </a:p>
        </p:txBody>
      </p:sp>
      <p:sp>
        <p:nvSpPr>
          <p:cNvPr id="53" name="Text 51"/>
          <p:cNvSpPr/>
          <p:nvPr/>
        </p:nvSpPr>
        <p:spPr>
          <a:xfrm>
            <a:off x="256032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4 周 · 10 月 25 日 · DARTMAN 上线</a:t>
            </a:r>
            <a:endParaRPr lang="en-US" sz="950" dirty="0"/>
          </a:p>
        </p:txBody>
      </p:sp>
      <p:sp>
        <p:nvSpPr>
          <p:cNvPr id="54" name="Text 52"/>
          <p:cNvSpPr/>
          <p:nvPr/>
        </p:nvSpPr>
        <p:spPr>
          <a:xfrm>
            <a:off x="2560320" y="42245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迁出 Wix，域名切换，表单通知，Search Console。</a:t>
            </a:r>
            <a:endParaRPr lang="en-US" sz="850" dirty="0"/>
          </a:p>
        </p:txBody>
      </p:sp>
      <p:sp>
        <p:nvSpPr>
          <p:cNvPr id="55" name="Text 53"/>
          <p:cNvSpPr/>
          <p:nvPr/>
        </p:nvSpPr>
        <p:spPr>
          <a:xfrm>
            <a:off x="466344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7 周 · 11 月 15 日 · 大银制造上线</a:t>
            </a:r>
            <a:endParaRPr lang="en-US" sz="950" dirty="0"/>
          </a:p>
        </p:txBody>
      </p:sp>
      <p:sp>
        <p:nvSpPr>
          <p:cNvPr id="56" name="Text 54"/>
          <p:cNvSpPr/>
          <p:nvPr/>
        </p:nvSpPr>
        <p:spPr>
          <a:xfrm>
            <a:off x="4663440" y="42245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.com 英文 + .cn 中文，询价路由，百度与 Google 收录。</a:t>
            </a:r>
            <a:endParaRPr lang="en-US" sz="850" dirty="0"/>
          </a:p>
        </p:txBody>
      </p:sp>
      <p:sp>
        <p:nvSpPr>
          <p:cNvPr id="57" name="Text 55"/>
          <p:cNvSpPr/>
          <p:nvPr/>
        </p:nvSpPr>
        <p:spPr>
          <a:xfrm>
            <a:off x="6766560" y="3977640"/>
            <a:ext cx="20116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第 9 周 · 11 月 29 日 · 商城上线</a:t>
            </a:r>
            <a:endParaRPr lang="en-US" sz="950" dirty="0"/>
          </a:p>
        </p:txBody>
      </p:sp>
      <p:sp>
        <p:nvSpPr>
          <p:cNvPr id="58" name="Text 56"/>
          <p:cNvSpPr/>
          <p:nvPr/>
        </p:nvSpPr>
        <p:spPr>
          <a:xfrm>
            <a:off x="6766560" y="4224528"/>
            <a:ext cx="201168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支付、物流、税费；黑五与圣诞季前完成。</a:t>
            </a:r>
            <a:endParaRPr lang="en-US" sz="850" dirty="0"/>
          </a:p>
        </p:txBody>
      </p:sp>
      <p:sp>
        <p:nvSpPr>
          <p:cNvPr id="59" name="Text 57"/>
          <p:cNvSpPr/>
          <p:nvPr/>
        </p:nvSpPr>
        <p:spPr>
          <a:xfrm>
            <a:off x="457200" y="914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以 9 月 28 日（周一）启动计算；第 1 周含国庆假期已留余量。可以更快吗？可以：只做阶段一，DARTMAN 第 4 周上线后先看数据，再决定二、三阶段——这也是我们推荐的做法。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13 · 交付清单、费用与付款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固定费用，按里程碑付款，验收后才算完成。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17</a:t>
            </a:r>
            <a:endParaRPr lang="en-US" sz="850" dirty="0"/>
          </a:p>
        </p:txBody>
      </p:sp>
      <p:graphicFrame>
        <p:nvGraphicFramePr>
          <p:cNvPr id="1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1554480"/>
                <a:gridCol w="3931920"/>
                <a:gridCol w="1280160"/>
                <a:gridCol w="146304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阶段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交付物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费用（人民币）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付款节点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阶段一 · DARTMAN Games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 页英文站、3D 配置器、回本计算器、经销商申请、场地地图、表单后端、Wix 迁出与 301、产品补拍 1 天、规格单 PDF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填写]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30% 启动 · 40% 上线 · 30% 验收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阶段二 · 大银制造 .com + .cn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8 页英文 + 8 页中文、地球仪、推荐器、六步询价与路由、两厂拍摄、备案核对、百度 / Google 收录、证书下载包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填写]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30 / 40 / 30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阶段三 · DAYIN Sport 商城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5 页商城、支付与物流接入、商品导入（≤ 40 SKU）、订单邮件、评价与邮件营销接入、上线检查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填写]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30 / 40 / 30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月度运营（可选）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社媒内容 12 条/月（拍摄 + 制作 + 发布）、投放管理、周报与月报、看板维护、网站小改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填写] / 月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月初预付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广告投放预算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Google / Meta / 抖音投放费用，由贵司账户直付平台，BBK 不经手、不加价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E8571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[BBK 建议区间]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贵司直付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归属</a:t>
            </a:r>
            <a:endParaRPr lang="en-US" sz="950" dirty="0"/>
          </a:p>
        </p:txBody>
      </p:sp>
      <p:sp>
        <p:nvSpPr>
          <p:cNvPr id="9" name="Text 6"/>
          <p:cNvSpPr/>
          <p:nvPr/>
        </p:nvSpPr>
        <p:spPr>
          <a:xfrm>
            <a:off x="457200" y="38862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域名、主机、GA4、广告账户、社媒账号全部以大银名义开设，BBK 仅为管理员。源码在签约当天放入贵司仓库。</a:t>
            </a:r>
            <a:endParaRPr lang="en-US" sz="800" dirty="0"/>
          </a:p>
        </p:txBody>
      </p:sp>
      <p:sp>
        <p:nvSpPr>
          <p:cNvPr id="10" name="Text 7"/>
          <p:cNvSpPr/>
          <p:nvPr/>
        </p:nvSpPr>
        <p:spPr>
          <a:xfrm>
            <a:off x="256032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验收标准</a:t>
            </a:r>
            <a:endParaRPr lang="en-US" sz="950" dirty="0"/>
          </a:p>
        </p:txBody>
      </p:sp>
      <p:sp>
        <p:nvSpPr>
          <p:cNvPr id="11" name="Text 8"/>
          <p:cNvSpPr/>
          <p:nvPr/>
        </p:nvSpPr>
        <p:spPr>
          <a:xfrm>
            <a:off x="2560320" y="38862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每阶段上线前提供：Lighthouse 移动端 ≥ 80、三种设备实测截图、表单收信测试、旧链接跳转清单。</a:t>
            </a:r>
            <a:endParaRPr lang="en-US" sz="800" dirty="0"/>
          </a:p>
        </p:txBody>
      </p:sp>
      <p:sp>
        <p:nvSpPr>
          <p:cNvPr id="12" name="Text 9"/>
          <p:cNvSpPr/>
          <p:nvPr/>
        </p:nvSpPr>
        <p:spPr>
          <a:xfrm>
            <a:off x="466344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退出条款</a:t>
            </a:r>
            <a:endParaRPr lang="en-US" sz="950" dirty="0"/>
          </a:p>
        </p:txBody>
      </p:sp>
      <p:sp>
        <p:nvSpPr>
          <p:cNvPr id="13" name="Text 10"/>
          <p:cNvSpPr/>
          <p:nvPr/>
        </p:nvSpPr>
        <p:spPr>
          <a:xfrm>
            <a:off x="4663440" y="38862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任一阶段验收后可停止，不影响已上线站点。合作终止 5 个工作日内移交全部权限与文件。</a:t>
            </a:r>
            <a:endParaRPr lang="en-US" sz="800" dirty="0"/>
          </a:p>
        </p:txBody>
      </p:sp>
      <p:sp>
        <p:nvSpPr>
          <p:cNvPr id="14" name="Text 11"/>
          <p:cNvSpPr/>
          <p:nvPr/>
        </p:nvSpPr>
        <p:spPr>
          <a:xfrm>
            <a:off x="6766560" y="3657600"/>
            <a:ext cx="20116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关于效果的实话</a:t>
            </a:r>
            <a:endParaRPr lang="en-US" sz="950" dirty="0"/>
          </a:p>
        </p:txBody>
      </p:sp>
      <p:sp>
        <p:nvSpPr>
          <p:cNvPr id="15" name="Text 12"/>
          <p:cNvSpPr/>
          <p:nvPr/>
        </p:nvSpPr>
        <p:spPr>
          <a:xfrm>
            <a:off x="6766560" y="3886200"/>
            <a:ext cx="2011680" cy="8229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8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 上线后 2–4 周可见经销商询盘；代工的第一个合格询盘可能在第 2–3 个月，第一个成交通常在 6 个月以后——由采购周期决定。我们承诺每周可见的指标与每月一页纸报告；保证数字的机构，请谨慎。</a:t>
            </a:r>
            <a:endParaRPr lang="en-US" sz="8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14 · 社媒与内容 · 六个渠道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两种声音，绝不混用。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18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4023360" cy="146304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0700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声音 A · 大银制造 · 工程师对工程师</a:t>
            </a:r>
            <a:endParaRPr lang="en-US" sz="1150" dirty="0"/>
          </a:p>
        </p:txBody>
      </p:sp>
      <p:sp>
        <p:nvSpPr>
          <p:cNvPr id="9" name="Text 7"/>
          <p:cNvSpPr/>
          <p:nvPr/>
        </p:nvSpPr>
        <p:spPr>
          <a:xfrm>
            <a:off x="594360" y="1481328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LinkedIn 为主：越南工厂进度、模具与材料知识、验厂与认证、两厂对照。语气克制、数据说话。国内用视频号：厂区实拍、工艺短片。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LinkedIn 每周 2 条（已备 3 条样稿）· 视频号每周 1 条（已备 1 条脚本）· 搜索：Google（.com）+ 百度（.cn）</a:t>
            </a:r>
            <a:endParaRPr lang="en-US" sz="900" dirty="0"/>
          </a:p>
        </p:txBody>
      </p:sp>
      <p:sp>
        <p:nvSpPr>
          <p:cNvPr id="10" name="Shape 8"/>
          <p:cNvSpPr/>
          <p:nvPr/>
        </p:nvSpPr>
        <p:spPr>
          <a:xfrm>
            <a:off x="4663440" y="1143000"/>
            <a:ext cx="4023360" cy="1463040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1" name="Text 9"/>
          <p:cNvSpPr/>
          <p:nvPr/>
        </p:nvSpPr>
        <p:spPr>
          <a:xfrm>
            <a:off x="4800600" y="120700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5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声音 B · DARTMAN / DAYIN Sport · 玩家对玩家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4800600" y="1481328"/>
            <a:ext cx="384048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Instagram / Facebook / YouTube：机台在酒吧里的样子、联赛之夜、开箱与安装、五种配色。抖音：国内酒吧与飞镖馆场景、一人安装挑战。语气热、短、有画面。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Instagram 每周 3 条（已备 3 条）· 抖音每周 2 条（已备 2 条脚本）· 投放：Google 购物 + Meta（海外）；抖音（国内）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42976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4" name="Image 0" descr="research/deck/soc-linkedin-01-vietnam.jp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57200" y="2788920"/>
            <a:ext cx="960120" cy="11430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148132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6" name="Image 1" descr="research/deck/soc-linkedin-02-moldshop.jp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1508760" y="2788920"/>
            <a:ext cx="960120" cy="1143000"/>
          </a:xfrm>
          <a:prstGeom prst="rect">
            <a:avLst/>
          </a:prstGeom>
        </p:spPr>
      </p:pic>
      <p:sp>
        <p:nvSpPr>
          <p:cNvPr id="17" name="Shape 13"/>
          <p:cNvSpPr/>
          <p:nvPr/>
        </p:nvSpPr>
        <p:spPr>
          <a:xfrm>
            <a:off x="253288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18" name="Image 2" descr="research/deck/soc-linkedin-03-qc.jp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2560320" y="2788920"/>
            <a:ext cx="960120" cy="1143000"/>
          </a:xfrm>
          <a:prstGeom prst="rect">
            <a:avLst/>
          </a:prstGeom>
        </p:spPr>
      </p:pic>
      <p:sp>
        <p:nvSpPr>
          <p:cNvPr id="19" name="Shape 14"/>
          <p:cNvSpPr/>
          <p:nvPr/>
        </p:nvSpPr>
        <p:spPr>
          <a:xfrm>
            <a:off x="358444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0" name="Image 3" descr="research/deck/soc-ig-01-trickshot-9x16.jp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3611880" y="2788920"/>
            <a:ext cx="960120" cy="1143000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463600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2" name="Image 4" descr="research/deck/soc-ig-02-barnight-1x1.jp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4663440" y="2788920"/>
            <a:ext cx="960120" cy="1143000"/>
          </a:xfrm>
          <a:prstGeom prst="rect">
            <a:avLst/>
          </a:prstGeom>
        </p:spPr>
      </p:pic>
      <p:sp>
        <p:nvSpPr>
          <p:cNvPr id="23" name="Shape 16"/>
          <p:cNvSpPr/>
          <p:nvPr/>
        </p:nvSpPr>
        <p:spPr>
          <a:xfrm>
            <a:off x="568756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4" name="Image 5" descr="research/deck/soc-ig-03-tournament-1x1.jp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5715000" y="2788920"/>
            <a:ext cx="960120" cy="1143000"/>
          </a:xfrm>
          <a:prstGeom prst="rect">
            <a:avLst/>
          </a:prstGeom>
        </p:spPr>
      </p:pic>
      <p:sp>
        <p:nvSpPr>
          <p:cNvPr id="25" name="Shape 17"/>
          <p:cNvSpPr/>
          <p:nvPr/>
        </p:nvSpPr>
        <p:spPr>
          <a:xfrm>
            <a:off x="673912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6" name="Image 6" descr="research/deck/soc-douyin-01-factory-cover.jp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766560" y="2788920"/>
            <a:ext cx="960120" cy="1143000"/>
          </a:xfrm>
          <a:prstGeom prst="rect">
            <a:avLst/>
          </a:prstGeom>
        </p:spPr>
      </p:pic>
      <p:sp>
        <p:nvSpPr>
          <p:cNvPr id="27" name="Shape 18"/>
          <p:cNvSpPr/>
          <p:nvPr/>
        </p:nvSpPr>
        <p:spPr>
          <a:xfrm>
            <a:off x="7790688" y="2761488"/>
            <a:ext cx="1014984" cy="1197864"/>
          </a:xfrm>
          <a:prstGeom prst="rect">
            <a:avLst/>
          </a:prstGeom>
          <a:solidFill>
            <a:srgbClr val="FFFFFF"/>
          </a:solidFill>
          <a:ln w="9525">
            <a:solidFill>
              <a:srgbClr val="E4E6EA"/>
            </a:solidFill>
            <a:prstDash val="solid"/>
          </a:ln>
          <a:effectLst>
            <a:outerShdw sx="100000" sy="100000" kx="0" ky="0" algn="bl" rotWithShape="0" blurRad="76200" dist="25400" dir="5400000">
              <a:srgbClr val="000000">
                <a:alpha val="15000"/>
              </a:srgbClr>
            </a:outerShdw>
          </a:effectLst>
        </p:spPr>
      </p:sp>
      <p:pic>
        <p:nvPicPr>
          <p:cNvPr id="28" name="Image 7" descr="research/deck/soc-douyin-02-product-cover.jp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7818120" y="2788920"/>
            <a:ext cx="960120" cy="114300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457200" y="4114800"/>
            <a:ext cx="822960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首月内容日历（10 月 5 日 – 11 月 3 日）、完整分镜脚本见在线附件 https://aailee779-coder.github.io/social/ · 规则：不买粉、不刷量；以贵司企业认证账号发布；所有素材版权归大银。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15 · 为什么是 BBK · 东莞 · 双语 · 做出来给你看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我们不给您看 Logo 墙，给您看为大银做的东西。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19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651760" cy="155448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同城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长安到 BBK 不到一小时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19202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拍厂、开会、改稿当天来回。上海深圳的机构做不到，海外机构听不懂“开模”和“验厂”。</a:t>
            </a:r>
            <a:endParaRPr lang="en-US" sz="900" dirty="0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651760" cy="155448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双语双市场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8328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写给德州酒吧老板，也写给采购经理</a:t>
            </a:r>
            <a:endParaRPr lang="en-US" sz="1200" dirty="0"/>
          </a:p>
        </p:txBody>
      </p:sp>
      <p:sp>
        <p:nvSpPr>
          <p:cNvPr id="14" name="Text 12"/>
          <p:cNvSpPr/>
          <p:nvPr/>
        </p:nvSpPr>
        <p:spPr>
          <a:xfrm>
            <a:off x="3383280" y="19202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英文面向海外买家的写法，和中文面向国内客户的写法，是两种能力。三个样例站已经证明了这一点。</a:t>
            </a:r>
            <a:endParaRPr lang="en-US" sz="900" dirty="0"/>
          </a:p>
        </p:txBody>
      </p:sp>
      <p:sp>
        <p:nvSpPr>
          <p:cNvPr id="15" name="Shape 13"/>
          <p:cNvSpPr/>
          <p:nvPr/>
        </p:nvSpPr>
        <p:spPr>
          <a:xfrm>
            <a:off x="6035040" y="1143000"/>
            <a:ext cx="2651760" cy="155448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先做再谈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72200" y="1463040"/>
            <a:ext cx="237744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付款之前，东西已经在这里</a:t>
            </a:r>
            <a:endParaRPr lang="en-US" sz="1200" dirty="0"/>
          </a:p>
        </p:txBody>
      </p:sp>
      <p:sp>
        <p:nvSpPr>
          <p:cNvPr id="18" name="Text 16"/>
          <p:cNvSpPr/>
          <p:nvPr/>
        </p:nvSpPr>
        <p:spPr>
          <a:xfrm>
            <a:off x="6172200" y="1920240"/>
            <a:ext cx="2377440" cy="7772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 个页面、三套站点、一份体检报告、社媒样稿——都在您决定之前完成。这是最诚实的案例。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457200" y="2834640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沟通</a:t>
            </a:r>
            <a:endParaRPr lang="en-US" sz="950" dirty="0"/>
          </a:p>
        </p:txBody>
      </p:sp>
      <p:sp>
        <p:nvSpPr>
          <p:cNvPr id="20" name="Text 18"/>
          <p:cNvSpPr/>
          <p:nvPr/>
        </p:nvSpPr>
        <p:spPr>
          <a:xfrm>
            <a:off x="1188720" y="2834640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一个项目经理对接；微信群 + 每周五进度页；重要节点到厂当面汇报</a:t>
            </a:r>
            <a:endParaRPr lang="en-US" sz="900" dirty="0"/>
          </a:p>
        </p:txBody>
      </p:sp>
      <p:sp>
        <p:nvSpPr>
          <p:cNvPr id="21" name="Text 19"/>
          <p:cNvSpPr/>
          <p:nvPr/>
        </p:nvSpPr>
        <p:spPr>
          <a:xfrm>
            <a:off x="457200" y="3127248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审批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1188720" y="3127248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每个页面上线前贵司确认一次；文案、图片、数据三项分别签字</a:t>
            </a:r>
            <a:endParaRPr lang="en-US" sz="900" dirty="0"/>
          </a:p>
        </p:txBody>
      </p:sp>
      <p:sp>
        <p:nvSpPr>
          <p:cNvPr id="23" name="Text 21"/>
          <p:cNvSpPr/>
          <p:nvPr/>
        </p:nvSpPr>
        <p:spPr>
          <a:xfrm>
            <a:off x="457200" y="3419856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数据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1188720" y="3419856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GA4 + 百度统计 + 表单后台，看板对贵司开放；每月一页纸报告</a:t>
            </a:r>
            <a:endParaRPr lang="en-US" sz="900" dirty="0"/>
          </a:p>
        </p:txBody>
      </p:sp>
      <p:sp>
        <p:nvSpPr>
          <p:cNvPr id="25" name="Text 23"/>
          <p:cNvSpPr/>
          <p:nvPr/>
        </p:nvSpPr>
        <p:spPr>
          <a:xfrm>
            <a:off x="457200" y="3712464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安全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1188720" y="3712464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不使用贵司现有账号密码；所有新账号以贵司邮箱注册；权限最小化</a:t>
            </a:r>
            <a:endParaRPr lang="en-US" sz="900" dirty="0"/>
          </a:p>
        </p:txBody>
      </p:sp>
      <p:sp>
        <p:nvSpPr>
          <p:cNvPr id="27" name="Text 25"/>
          <p:cNvSpPr/>
          <p:nvPr/>
        </p:nvSpPr>
        <p:spPr>
          <a:xfrm>
            <a:off x="457200" y="4005072"/>
            <a:ext cx="73152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保密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1188720" y="4005072"/>
            <a:ext cx="38404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签署 NDA；样例与本方案不对外展示</a:t>
            </a:r>
            <a:endParaRPr lang="en-US" sz="900" dirty="0"/>
          </a:p>
        </p:txBody>
      </p:sp>
      <p:sp>
        <p:nvSpPr>
          <p:cNvPr id="29" name="Text 27"/>
          <p:cNvSpPr/>
          <p:nvPr/>
        </p:nvSpPr>
        <p:spPr>
          <a:xfrm>
            <a:off x="5303520" y="2834640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 团队（本项目）</a:t>
            </a:r>
            <a:endParaRPr lang="en-US" sz="950" dirty="0"/>
          </a:p>
        </p:txBody>
      </p:sp>
      <p:sp>
        <p:nvSpPr>
          <p:cNvPr id="30" name="Text 28"/>
          <p:cNvSpPr/>
          <p:nvPr/>
        </p:nvSpPr>
        <p:spPr>
          <a:xfrm>
            <a:off x="5303520" y="3108960"/>
            <a:ext cx="33832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项目负责人 [BBK 填写姓名] · 策略与客户沟通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设计与前端 [BBK 填写] · 三个站点的设计与开发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内容与社媒 [BBK 填写] · 双语文案、拍摄、日历执行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投放与数据 [BBK 填写] · Google / Meta / 抖音投放，看板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16 · 下一步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一句话即可启动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20</a:t>
            </a:r>
            <a:endParaRPr lang="en-US" sz="850" dirty="0"/>
          </a:p>
        </p:txBody>
      </p:sp>
      <p:sp>
        <p:nvSpPr>
          <p:cNvPr id="7" name="Shape 5"/>
          <p:cNvSpPr/>
          <p:nvPr/>
        </p:nvSpPr>
        <p:spPr>
          <a:xfrm>
            <a:off x="457200" y="1143000"/>
            <a:ext cx="26517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59436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今天</a:t>
            </a:r>
            <a:endParaRPr lang="en-US" sz="1000" dirty="0"/>
          </a:p>
        </p:txBody>
      </p:sp>
      <p:sp>
        <p:nvSpPr>
          <p:cNvPr id="9" name="Text 7"/>
          <p:cNvSpPr/>
          <p:nvPr/>
        </p:nvSpPr>
        <p:spPr>
          <a:xfrm>
            <a:off x="59436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扫码看样例</a:t>
            </a:r>
            <a:endParaRPr lang="en-US" sz="1500" dirty="0"/>
          </a:p>
        </p:txBody>
      </p:sp>
      <p:sp>
        <p:nvSpPr>
          <p:cNvPr id="10" name="Text 8"/>
          <p:cNvSpPr/>
          <p:nvPr/>
        </p:nvSpPr>
        <p:spPr>
          <a:xfrm>
            <a:off x="594360" y="1828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三个网站在手机上各看三分钟。哪里不对，直接告诉我们。</a:t>
            </a:r>
            <a:endParaRPr lang="en-US" sz="950" dirty="0"/>
          </a:p>
        </p:txBody>
      </p:sp>
      <p:sp>
        <p:nvSpPr>
          <p:cNvPr id="11" name="Shape 9"/>
          <p:cNvSpPr/>
          <p:nvPr/>
        </p:nvSpPr>
        <p:spPr>
          <a:xfrm>
            <a:off x="3246120" y="1143000"/>
            <a:ext cx="2651760" cy="1371600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338328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本周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338328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回复三个问题 + 一句话</a:t>
            </a:r>
            <a:endParaRPr lang="en-US" sz="1500" dirty="0"/>
          </a:p>
        </p:txBody>
      </p:sp>
      <p:sp>
        <p:nvSpPr>
          <p:cNvPr id="14" name="Text 12"/>
          <p:cNvSpPr/>
          <p:nvPr/>
        </p:nvSpPr>
        <p:spPr>
          <a:xfrm>
            <a:off x="3383280" y="1828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百度、机台数、三站分工；然后“确认第一阶段”。</a:t>
            </a:r>
            <a:endParaRPr lang="en-US" sz="950" dirty="0"/>
          </a:p>
        </p:txBody>
      </p:sp>
      <p:sp>
        <p:nvSpPr>
          <p:cNvPr id="15" name="Shape 13"/>
          <p:cNvSpPr/>
          <p:nvPr/>
        </p:nvSpPr>
        <p:spPr>
          <a:xfrm>
            <a:off x="6035040" y="1143000"/>
            <a:ext cx="2651760" cy="1371600"/>
          </a:xfrm>
          <a:prstGeom prst="rect">
            <a:avLst/>
          </a:prstGeom>
          <a:solidFill>
            <a:srgbClr val="E8571F"/>
          </a:solidFill>
          <a:ln w="12700">
            <a:solidFill>
              <a:srgbClr val="E8571F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6172200" y="1207008"/>
            <a:ext cx="23774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下周一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6172200" y="1463040"/>
            <a:ext cx="23774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启动</a:t>
            </a:r>
            <a:endParaRPr lang="en-US" sz="1500" dirty="0"/>
          </a:p>
        </p:txBody>
      </p:sp>
      <p:sp>
        <p:nvSpPr>
          <p:cNvPr id="18" name="Text 16"/>
          <p:cNvSpPr/>
          <p:nvPr/>
        </p:nvSpPr>
        <p:spPr>
          <a:xfrm>
            <a:off x="6172200" y="1828800"/>
            <a:ext cx="23774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FFFFF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签署 NDA 与阶段一合同，到厂拍摄排期，第 4 周 DARTMAN 上线。</a:t>
            </a:r>
            <a:endParaRPr lang="en-US" sz="950" dirty="0"/>
          </a:p>
        </p:txBody>
      </p:sp>
      <p:sp>
        <p:nvSpPr>
          <p:cNvPr id="19" name="Text 17"/>
          <p:cNvSpPr/>
          <p:nvPr/>
        </p:nvSpPr>
        <p:spPr>
          <a:xfrm>
            <a:off x="457200" y="269748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启动前请贵司准备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457200" y="2971800"/>
            <a:ext cx="402336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① 三个问题的答复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② DARTMAN 与大银制造的官方联系邮箱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③ dartmangames.com 域名管理权限（Wix 迁出用）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④ ISO / GRS / SMTA / SCAN / Target 证书扫描件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⑤ 产品目录与价格（商城阶段）</a:t>
            </a:r>
            <a:endParaRPr lang="en-US" sz="950" dirty="0"/>
          </a:p>
          <a:p>
            <a:pPr indent="0" marL="0">
              <a:buNone/>
            </a:pPr>
            <a:r>
              <a:rPr lang="en-US" sz="95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⑥ 拍摄日期（东莞长安厂区，半天）</a:t>
            </a:r>
            <a:endParaRPr lang="en-US" sz="950" dirty="0"/>
          </a:p>
        </p:txBody>
      </p:sp>
      <p:pic>
        <p:nvPicPr>
          <p:cNvPr id="21" name="Image 0" descr="research/deck/qr-hu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4846320" y="2743200"/>
            <a:ext cx="1097280" cy="1097280"/>
          </a:xfrm>
          <a:prstGeom prst="rect">
            <a:avLst/>
          </a:prstGeom>
        </p:spPr>
      </p:pic>
      <p:sp>
        <p:nvSpPr>
          <p:cNvPr id="22" name="Text 19"/>
          <p:cNvSpPr/>
          <p:nvPr/>
        </p:nvSpPr>
        <p:spPr>
          <a:xfrm>
            <a:off x="4846320" y="3858768"/>
            <a:ext cx="109728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样例总览</a:t>
            </a:r>
            <a:endParaRPr lang="en-US" sz="850" dirty="0"/>
          </a:p>
        </p:txBody>
      </p:sp>
      <p:pic>
        <p:nvPicPr>
          <p:cNvPr id="23" name="Image 1" descr="research/deck/qr-propo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6126480" y="2743200"/>
            <a:ext cx="1097280" cy="1097280"/>
          </a:xfrm>
          <a:prstGeom prst="rect">
            <a:avLst/>
          </a:prstGeom>
        </p:spPr>
      </p:pic>
      <p:sp>
        <p:nvSpPr>
          <p:cNvPr id="24" name="Text 20"/>
          <p:cNvSpPr/>
          <p:nvPr/>
        </p:nvSpPr>
        <p:spPr>
          <a:xfrm>
            <a:off x="6035040" y="3858768"/>
            <a:ext cx="128016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方案书（网页 / PDF）</a:t>
            </a:r>
            <a:endParaRPr lang="en-US" sz="850" dirty="0"/>
          </a:p>
        </p:txBody>
      </p:sp>
      <p:sp>
        <p:nvSpPr>
          <p:cNvPr id="25" name="Text 21"/>
          <p:cNvSpPr/>
          <p:nvPr/>
        </p:nvSpPr>
        <p:spPr>
          <a:xfrm>
            <a:off x="7315200" y="2743200"/>
            <a:ext cx="1463040" cy="12801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联系 BBK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[BBK 填写姓名] · [电话] · [微信] · [邮箱]</a:t>
            </a:r>
            <a:endParaRPr lang="en-US" sz="900" dirty="0"/>
          </a:p>
          <a:p>
            <a:pPr indent="0" marL="0">
              <a:buNone/>
            </a:pPr>
            <a:r>
              <a:rPr lang="en-US" sz="900" dirty="0">
                <a:solidFill>
                  <a:srgbClr val="4A4D57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 Media and Technology · 东莞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F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二维码总表 · 手机扫码直达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21</a:t>
            </a:r>
            <a:endParaRPr lang="en-US" sz="850" dirty="0"/>
          </a:p>
        </p:txBody>
      </p:sp>
      <p:pic>
        <p:nvPicPr>
          <p:cNvPr id="7" name="Image 0" descr="research/deck/qr-hub.pn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640080" y="1143000"/>
            <a:ext cx="1005840" cy="100584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457200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样例总览</a:t>
            </a:r>
            <a:endParaRPr lang="en-US" sz="900" dirty="0"/>
          </a:p>
        </p:txBody>
      </p:sp>
      <p:sp>
        <p:nvSpPr>
          <p:cNvPr id="9" name="Text 6"/>
          <p:cNvSpPr/>
          <p:nvPr/>
        </p:nvSpPr>
        <p:spPr>
          <a:xfrm>
            <a:off x="457200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aailee779-coder.github.io/</a:t>
            </a:r>
            <a:endParaRPr lang="en-US" sz="650" dirty="0"/>
          </a:p>
        </p:txBody>
      </p:sp>
      <p:pic>
        <p:nvPicPr>
          <p:cNvPr id="10" name="Image 1" descr="research/deck/qr-proposal.pn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039112" y="1143000"/>
            <a:ext cx="1005840" cy="1005840"/>
          </a:xfrm>
          <a:prstGeom prst="rect">
            <a:avLst/>
          </a:prstGeom>
        </p:spPr>
      </p:pic>
      <p:sp>
        <p:nvSpPr>
          <p:cNvPr id="11" name="Text 7"/>
          <p:cNvSpPr/>
          <p:nvPr/>
        </p:nvSpPr>
        <p:spPr>
          <a:xfrm>
            <a:off x="1856232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方案书</a:t>
            </a:r>
            <a:endParaRPr lang="en-US" sz="900" dirty="0"/>
          </a:p>
        </p:txBody>
      </p:sp>
      <p:sp>
        <p:nvSpPr>
          <p:cNvPr id="12" name="Text 8"/>
          <p:cNvSpPr/>
          <p:nvPr/>
        </p:nvSpPr>
        <p:spPr>
          <a:xfrm>
            <a:off x="1856232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13" name="Image 2" descr="research/deck/qr-dartman.png">    </p:cNvPr>
          <p:cNvPicPr>
            <a:picLocks noChangeAspect="1"/>
          </p:cNvPicPr>
          <p:nvPr/>
        </p:nvPicPr>
        <p:blipFill>
          <a:blip r:embed="rId3"/>
          <a:srcRect l="0" r="0" t="0" b="0"/>
          <a:stretch/>
        </p:blipFill>
        <p:spPr>
          <a:xfrm>
            <a:off x="3438144" y="1143000"/>
            <a:ext cx="1005840" cy="100584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3255264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DARTMAN 首页</a:t>
            </a:r>
            <a:endParaRPr lang="en-US" sz="900" dirty="0"/>
          </a:p>
        </p:txBody>
      </p:sp>
      <p:sp>
        <p:nvSpPr>
          <p:cNvPr id="15" name="Text 10"/>
          <p:cNvSpPr/>
          <p:nvPr/>
        </p:nvSpPr>
        <p:spPr>
          <a:xfrm>
            <a:off x="3255264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16" name="Image 3" descr="research/deck/qr-edmini.png">    </p:cNvPr>
          <p:cNvPicPr>
            <a:picLocks noChangeAspect="1"/>
          </p:cNvPicPr>
          <p:nvPr/>
        </p:nvPicPr>
        <p:blipFill>
          <a:blip r:embed="rId4"/>
          <a:srcRect l="0" r="0" t="0" b="0"/>
          <a:stretch/>
        </p:blipFill>
        <p:spPr>
          <a:xfrm>
            <a:off x="4837176" y="1143000"/>
            <a:ext cx="1005840" cy="1005840"/>
          </a:xfrm>
          <a:prstGeom prst="rect">
            <a:avLst/>
          </a:prstGeom>
        </p:spPr>
      </p:pic>
      <p:sp>
        <p:nvSpPr>
          <p:cNvPr id="17" name="Text 11"/>
          <p:cNvSpPr/>
          <p:nvPr/>
        </p:nvSpPr>
        <p:spPr>
          <a:xfrm>
            <a:off x="4654296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EDmini · 3D + 转台</a:t>
            </a:r>
            <a:endParaRPr lang="en-US" sz="900" dirty="0"/>
          </a:p>
        </p:txBody>
      </p:sp>
      <p:sp>
        <p:nvSpPr>
          <p:cNvPr id="18" name="Text 12"/>
          <p:cNvSpPr/>
          <p:nvPr/>
        </p:nvSpPr>
        <p:spPr>
          <a:xfrm>
            <a:off x="4654296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19" name="Image 4" descr="research/deck/qr-venues.png">    </p:cNvPr>
          <p:cNvPicPr>
            <a:picLocks noChangeAspect="1"/>
          </p:cNvPicPr>
          <p:nvPr/>
        </p:nvPicPr>
        <p:blipFill>
          <a:blip r:embed="rId5"/>
          <a:srcRect l="0" r="0" t="0" b="0"/>
          <a:stretch/>
        </p:blipFill>
        <p:spPr>
          <a:xfrm>
            <a:off x="6236208" y="1143000"/>
            <a:ext cx="1005840" cy="1005840"/>
          </a:xfrm>
          <a:prstGeom prst="rect">
            <a:avLst/>
          </a:prstGeom>
        </p:spPr>
      </p:pic>
      <p:sp>
        <p:nvSpPr>
          <p:cNvPr id="20" name="Text 13"/>
          <p:cNvSpPr/>
          <p:nvPr/>
        </p:nvSpPr>
        <p:spPr>
          <a:xfrm>
            <a:off x="6053328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回本计算器</a:t>
            </a:r>
            <a:endParaRPr lang="en-US" sz="900" dirty="0"/>
          </a:p>
        </p:txBody>
      </p:sp>
      <p:sp>
        <p:nvSpPr>
          <p:cNvPr id="21" name="Text 14"/>
          <p:cNvSpPr/>
          <p:nvPr/>
        </p:nvSpPr>
        <p:spPr>
          <a:xfrm>
            <a:off x="6053328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22" name="Image 5" descr="research/deck/qr-ba.png">    </p:cNvPr>
          <p:cNvPicPr>
            <a:picLocks noChangeAspect="1"/>
          </p:cNvPicPr>
          <p:nvPr/>
        </p:nvPicPr>
        <p:blipFill>
          <a:blip r:embed="rId6"/>
          <a:srcRect l="0" r="0" t="0" b="0"/>
          <a:stretch/>
        </p:blipFill>
        <p:spPr>
          <a:xfrm>
            <a:off x="7635240" y="1143000"/>
            <a:ext cx="1005840" cy="1005840"/>
          </a:xfrm>
          <a:prstGeom prst="rect">
            <a:avLst/>
          </a:prstGeom>
        </p:spPr>
      </p:pic>
      <p:sp>
        <p:nvSpPr>
          <p:cNvPr id="23" name="Text 15"/>
          <p:cNvSpPr/>
          <p:nvPr/>
        </p:nvSpPr>
        <p:spPr>
          <a:xfrm>
            <a:off x="7452360" y="21671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新旧对比</a:t>
            </a:r>
            <a:endParaRPr lang="en-US" sz="900" dirty="0"/>
          </a:p>
        </p:txBody>
      </p:sp>
      <p:sp>
        <p:nvSpPr>
          <p:cNvPr id="24" name="Text 16"/>
          <p:cNvSpPr/>
          <p:nvPr/>
        </p:nvSpPr>
        <p:spPr>
          <a:xfrm>
            <a:off x="7452360" y="23682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25" name="Image 6" descr="research/deck/qr-dayin.png">    </p:cNvPr>
          <p:cNvPicPr>
            <a:picLocks noChangeAspect="1"/>
          </p:cNvPicPr>
          <p:nvPr/>
        </p:nvPicPr>
        <p:blipFill>
          <a:blip r:embed="rId7"/>
          <a:srcRect l="0" r="0" t="0" b="0"/>
          <a:stretch/>
        </p:blipFill>
        <p:spPr>
          <a:xfrm>
            <a:off x="640080" y="2743200"/>
            <a:ext cx="1005840" cy="1005840"/>
          </a:xfrm>
          <a:prstGeom prst="rect">
            <a:avLst/>
          </a:prstGeom>
        </p:spPr>
      </p:pic>
      <p:sp>
        <p:nvSpPr>
          <p:cNvPr id="26" name="Text 17"/>
          <p:cNvSpPr/>
          <p:nvPr/>
        </p:nvSpPr>
        <p:spPr>
          <a:xfrm>
            <a:off x="457200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大银制造首页</a:t>
            </a:r>
            <a:endParaRPr lang="en-US" sz="900" dirty="0"/>
          </a:p>
        </p:txBody>
      </p:sp>
      <p:sp>
        <p:nvSpPr>
          <p:cNvPr id="27" name="Text 18"/>
          <p:cNvSpPr/>
          <p:nvPr/>
        </p:nvSpPr>
        <p:spPr>
          <a:xfrm>
            <a:off x="457200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28" name="Image 7" descr="research/deck/qr-vietnam.png">    </p:cNvPr>
          <p:cNvPicPr>
            <a:picLocks noChangeAspect="1"/>
          </p:cNvPicPr>
          <p:nvPr/>
        </p:nvPicPr>
        <p:blipFill>
          <a:blip r:embed="rId8"/>
          <a:srcRect l="0" r="0" t="0" b="0"/>
          <a:stretch/>
        </p:blipFill>
        <p:spPr>
          <a:xfrm>
            <a:off x="2039112" y="2743200"/>
            <a:ext cx="1005840" cy="1005840"/>
          </a:xfrm>
          <a:prstGeom prst="rect">
            <a:avLst/>
          </a:prstGeom>
        </p:spPr>
      </p:pic>
      <p:sp>
        <p:nvSpPr>
          <p:cNvPr id="29" name="Text 19"/>
          <p:cNvSpPr/>
          <p:nvPr/>
        </p:nvSpPr>
        <p:spPr>
          <a:xfrm>
            <a:off x="1856232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越南专页</a:t>
            </a:r>
            <a:endParaRPr lang="en-US" sz="900" dirty="0"/>
          </a:p>
        </p:txBody>
      </p:sp>
      <p:sp>
        <p:nvSpPr>
          <p:cNvPr id="30" name="Text 20"/>
          <p:cNvSpPr/>
          <p:nvPr/>
        </p:nvSpPr>
        <p:spPr>
          <a:xfrm>
            <a:off x="1856232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31" name="Image 8" descr="research/deck/qr-rfq.png">    </p:cNvPr>
          <p:cNvPicPr>
            <a:picLocks noChangeAspect="1"/>
          </p:cNvPicPr>
          <p:nvPr/>
        </p:nvPicPr>
        <p:blipFill>
          <a:blip r:embed="rId9"/>
          <a:srcRect l="0" r="0" t="0" b="0"/>
          <a:stretch/>
        </p:blipFill>
        <p:spPr>
          <a:xfrm>
            <a:off x="3438144" y="2743200"/>
            <a:ext cx="1005840" cy="1005840"/>
          </a:xfrm>
          <a:prstGeom prst="rect">
            <a:avLst/>
          </a:prstGeom>
        </p:spPr>
      </p:pic>
      <p:sp>
        <p:nvSpPr>
          <p:cNvPr id="32" name="Text 21"/>
          <p:cNvSpPr/>
          <p:nvPr/>
        </p:nvSpPr>
        <p:spPr>
          <a:xfrm>
            <a:off x="3255264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六步询价</a:t>
            </a:r>
            <a:endParaRPr lang="en-US" sz="900" dirty="0"/>
          </a:p>
        </p:txBody>
      </p:sp>
      <p:sp>
        <p:nvSpPr>
          <p:cNvPr id="33" name="Text 22"/>
          <p:cNvSpPr/>
          <p:nvPr/>
        </p:nvSpPr>
        <p:spPr>
          <a:xfrm>
            <a:off x="3255264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34" name="Image 9" descr="research/deck/qr-zh.png">    </p:cNvPr>
          <p:cNvPicPr>
            <a:picLocks noChangeAspect="1"/>
          </p:cNvPicPr>
          <p:nvPr/>
        </p:nvPicPr>
        <p:blipFill>
          <a:blip r:embed="rId10"/>
          <a:srcRect l="0" r="0" t="0" b="0"/>
          <a:stretch/>
        </p:blipFill>
        <p:spPr>
          <a:xfrm>
            <a:off x="4837176" y="2743200"/>
            <a:ext cx="1005840" cy="1005840"/>
          </a:xfrm>
          <a:prstGeom prst="rect">
            <a:avLst/>
          </a:prstGeom>
        </p:spPr>
      </p:pic>
      <p:sp>
        <p:nvSpPr>
          <p:cNvPr id="35" name="Text 23"/>
          <p:cNvSpPr/>
          <p:nvPr/>
        </p:nvSpPr>
        <p:spPr>
          <a:xfrm>
            <a:off x="4654296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中文首页</a:t>
            </a:r>
            <a:endParaRPr lang="en-US" sz="900" dirty="0"/>
          </a:p>
        </p:txBody>
      </p:sp>
      <p:sp>
        <p:nvSpPr>
          <p:cNvPr id="36" name="Text 24"/>
          <p:cNvSpPr/>
          <p:nvPr/>
        </p:nvSpPr>
        <p:spPr>
          <a:xfrm>
            <a:off x="4654296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37" name="Image 10" descr="research/deck/qr-shop.png">    </p:cNvPr>
          <p:cNvPicPr>
            <a:picLocks noChangeAspect="1"/>
          </p:cNvPicPr>
          <p:nvPr/>
        </p:nvPicPr>
        <p:blipFill>
          <a:blip r:embed="rId11"/>
          <a:srcRect l="0" r="0" t="0" b="0"/>
          <a:stretch/>
        </p:blipFill>
        <p:spPr>
          <a:xfrm>
            <a:off x="6236208" y="2743200"/>
            <a:ext cx="1005840" cy="1005840"/>
          </a:xfrm>
          <a:prstGeom prst="rect">
            <a:avLst/>
          </a:prstGeom>
        </p:spPr>
      </p:pic>
      <p:sp>
        <p:nvSpPr>
          <p:cNvPr id="38" name="Text 25"/>
          <p:cNvSpPr/>
          <p:nvPr/>
        </p:nvSpPr>
        <p:spPr>
          <a:xfrm>
            <a:off x="6053328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商城首页</a:t>
            </a:r>
            <a:endParaRPr lang="en-US" sz="900" dirty="0"/>
          </a:p>
        </p:txBody>
      </p:sp>
      <p:sp>
        <p:nvSpPr>
          <p:cNvPr id="39" name="Text 26"/>
          <p:cNvSpPr/>
          <p:nvPr/>
        </p:nvSpPr>
        <p:spPr>
          <a:xfrm>
            <a:off x="6053328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pic>
        <p:nvPicPr>
          <p:cNvPr id="40" name="Image 11" descr="research/deck/qr-product.png">    </p:cNvPr>
          <p:cNvPicPr>
            <a:picLocks noChangeAspect="1"/>
          </p:cNvPicPr>
          <p:nvPr/>
        </p:nvPicPr>
        <p:blipFill>
          <a:blip r:embed="rId12"/>
          <a:srcRect l="0" r="0" t="0" b="0"/>
          <a:stretch/>
        </p:blipFill>
        <p:spPr>
          <a:xfrm>
            <a:off x="7635240" y="2743200"/>
            <a:ext cx="1005840" cy="1005840"/>
          </a:xfrm>
          <a:prstGeom prst="rect">
            <a:avLst/>
          </a:prstGeom>
        </p:spPr>
      </p:pic>
      <p:sp>
        <p:nvSpPr>
          <p:cNvPr id="41" name="Text 27"/>
          <p:cNvSpPr/>
          <p:nvPr/>
        </p:nvSpPr>
        <p:spPr>
          <a:xfrm>
            <a:off x="7452360" y="3767328"/>
            <a:ext cx="1371600" cy="228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商品页</a:t>
            </a:r>
            <a:endParaRPr lang="en-US" sz="900" dirty="0"/>
          </a:p>
        </p:txBody>
      </p:sp>
      <p:sp>
        <p:nvSpPr>
          <p:cNvPr id="42" name="Text 28"/>
          <p:cNvSpPr/>
          <p:nvPr/>
        </p:nvSpPr>
        <p:spPr>
          <a:xfrm>
            <a:off x="7452360" y="3968496"/>
            <a:ext cx="1371600" cy="182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6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aailee779-coder.github.io</a:t>
            </a:r>
            <a:endParaRPr lang="en-US" sz="650" dirty="0"/>
          </a:p>
        </p:txBody>
      </p:sp>
      <p:sp>
        <p:nvSpPr>
          <p:cNvPr id="43" name="Text 29"/>
          <p:cNvSpPr/>
          <p:nvPr/>
        </p:nvSpPr>
        <p:spPr>
          <a:xfrm>
            <a:off x="457200" y="438912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所有链接均指向 BBK 自有地址；未触碰贵司任何域名。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92608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457200" y="530352"/>
            <a:ext cx="82296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15161B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附录 · 数据来源 与 未验证事项</a:t>
            </a:r>
            <a:endParaRPr lang="en-US" sz="2400" dirty="0"/>
          </a:p>
        </p:txBody>
      </p:sp>
      <p:sp>
        <p:nvSpPr>
          <p:cNvPr id="4" name="Shape 2"/>
          <p:cNvSpPr/>
          <p:nvPr/>
        </p:nvSpPr>
        <p:spPr>
          <a:xfrm>
            <a:off x="0" y="4850892"/>
            <a:ext cx="9144000" cy="292608"/>
          </a:xfrm>
          <a:prstGeom prst="rect">
            <a:avLst/>
          </a:prstGeom>
          <a:solidFill>
            <a:srgbClr val="F5F6F8"/>
          </a:solidFill>
          <a:ln w="12700">
            <a:solidFill>
              <a:srgbClr val="F5F6F8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50892"/>
            <a:ext cx="64008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dirty="0">
                <a:solidFill>
                  <a:srgbClr val="E8571F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BBK</a:t>
            </a:r>
            <a:pPr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 · 大银集团数字营销升级方案 · Concept by BBK Media and Technology · 概念演示</a:t>
            </a:r>
            <a:endParaRPr lang="en-US" sz="850" dirty="0"/>
          </a:p>
        </p:txBody>
      </p:sp>
      <p:sp>
        <p:nvSpPr>
          <p:cNvPr id="6" name="Text 4"/>
          <p:cNvSpPr/>
          <p:nvPr/>
        </p:nvSpPr>
        <p:spPr>
          <a:xfrm>
            <a:off x="8229600" y="4850892"/>
            <a:ext cx="457200" cy="2926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5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22</a:t>
            </a:r>
            <a:endParaRPr lang="en-US" sz="850" dirty="0"/>
          </a:p>
        </p:txBody>
      </p:sp>
      <p:graphicFrame>
        <p:nvGraphicFramePr>
          <p:cNvPr id="2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1234440"/>
          <a:ext cx="8229600" cy="914400"/>
        </p:xfrm>
        <a:graphic>
          <a:graphicData uri="http://schemas.openxmlformats.org/drawingml/2006/table">
            <a:tbl>
              <a:tblPr/>
              <a:tblGrid>
                <a:gridCol w="2011680"/>
                <a:gridCol w="621792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项目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来源</a:t>
                      </a:r>
                      <a:endParaRPr lang="en-US" sz="10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5161B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厂区 / 机台 / 人员 / 认证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madeindayin.com（/index、/about-da-yin、/vietnam-manufacturing），2026-09-19 抓取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EDmini 规格 / 装柜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dartmangames.com（/edmini、/edarts-games），2026-09-19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dayinsport.com 定位与数据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dayinsport.com 首页，2026-09-19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性能数据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Google Lighthouse 12，模拟移动网络，现状 2026-09-19，新版 2026-09-20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越南 FAQ 五问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madeindayin.com/vietnam-manufacturing，原文引用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参考标杆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dartshopper.com · dartscorner.com · protolabs.com，仅参考页面结构与版式；未使用其图片、产品或数据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AI 场景图（24 张）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以贵司真实产品照片为参考图生成（GPT Image 2.5），产品外观未改动；上线前可用实拍替换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b="1" dirty="0">
                          <a:solidFill>
                            <a:srgbClr val="C8102E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未验证 / 未使用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4A4D57"/>
                          </a:solidFill>
                          <a:latin typeface="PingFang SC" pitchFamily="34" charset="0"/>
                          <a:ea typeface="PingFang SC" pitchFamily="34" charset="-122"/>
                          <a:cs typeface="PingFang SC" pitchFamily="34" charset="-120"/>
                        </a:rPr>
                        <a:t>定价、经销商数量、装机量、营收、场地数量、App 用户数——均未在样例中作为事实出现；商品名、价格、库存为示例并已标注</a:t>
                      </a:r>
                      <a:endParaRPr lang="en-US" sz="900" dirty="0">
                        <a:latin typeface="PingFang SC" charset="0"/>
                        <a:ea typeface="PingFang SC" charset="0"/>
                        <a:cs typeface="PingFang SC" charset="0"/>
                      </a:endParaRPr>
                    </a:p>
                  </a:txBody>
                  <a:tcPr marL="91440" marR="91440" marT="45720" marB="45720" anchor="ctr">
                    <a:lnL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4E6EA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</a:tr>
            </a:tbl>
          </a:graphicData>
        </a:graphic>
      </p:graphicFrame>
      <p:sp>
        <p:nvSpPr>
          <p:cNvPr id="8" name="Text 5"/>
          <p:cNvSpPr/>
          <p:nvPr/>
        </p:nvSpPr>
        <p:spPr>
          <a:xfrm>
            <a:off x="457200" y="4343400"/>
            <a:ext cx="8229600" cy="2743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00" dirty="0">
                <a:solidFill>
                  <a:srgbClr val="7A7E88"/>
                </a:solidFill>
                <a:latin typeface="PingFang SC" pitchFamily="34" charset="0"/>
                <a:ea typeface="PingFang SC" pitchFamily="34" charset="-122"/>
                <a:cs typeface="PingFang SC" pitchFamily="34" charset="-120"/>
              </a:rPr>
              <a:t>Concept by BBK Media and Technology · 概念演示 · 本方案不含任何虚构案例或数据</a:t>
            </a:r>
            <a:endParaRPr lang="en-US" sz="9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22</Slides>
  <Notes>22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2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</vt:vector>
  </TitlesOfParts>
  <Company>BBK Media and Technology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BBK × 大银 · 数字营销升级方案</dc:title>
  <dc:subject>PptxGenJS Presentation</dc:subject>
  <dc:creator>BBK Media and Technology</dc:creator>
  <cp:lastModifiedBy>BBK Media and Technology</cp:lastModifiedBy>
  <cp:revision>1</cp:revision>
  <dcterms:created xsi:type="dcterms:W3CDTF">2026-09-19T21:27:35Z</dcterms:created>
  <dcterms:modified xsi:type="dcterms:W3CDTF">2026-09-19T21:27:35Z</dcterms:modified>
</cp:coreProperties>
</file>