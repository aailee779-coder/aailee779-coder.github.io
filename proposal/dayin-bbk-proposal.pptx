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PingFang SC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PingFang SC"/>
              </a:rPr>
              <a:t>移动端性能得分（越高越好）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现状</c:v>
                </c:pt>
              </c:strCache>
            </c:strRef>
          </c:tx>
          <c:spPr>
            <a:solidFill>
              <a:srgbClr val="9A9E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PingFang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dartmangames.com → DARTMAN</c:v>
                  </c:pt>
                  <c:pt idx="1">
                    <c:v>madeindayin.com → 大银制造 EN</c:v>
                  </c:pt>
                  <c:pt idx="2">
                    <c:v>madeindayin.cn → 大银制造 中文</c:v>
                  </c:pt>
                  <c:pt idx="3">
                    <c:v>dayinsport.com → DAYIN Sport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53</c:v>
                </c:pt>
                <c:pt idx="2">
                  <c:v>42</c:v>
                </c:pt>
                <c:pt idx="3">
                  <c:v>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新版</c:v>
                </c:pt>
              </c:strCache>
            </c:strRef>
          </c:tx>
          <c:spPr>
            <a:solidFill>
              <a:srgbClr val="E857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PingFang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dartmangames.com → DARTMAN</c:v>
                  </c:pt>
                  <c:pt idx="1">
                    <c:v>madeindayin.com → 大银制造 EN</c:v>
                  </c:pt>
                  <c:pt idx="2">
                    <c:v>madeindayin.cn → 大银制造 中文</c:v>
                  </c:pt>
                  <c:pt idx="3">
                    <c:v>dayinsport.com → DAYIN Sport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78</c:v>
                </c:pt>
                <c:pt idx="1">
                  <c:v>79</c:v>
                </c:pt>
                <c:pt idx="2">
                  <c:v>82</c:v>
                </c:pt>
                <c:pt idx="3">
                  <c:v>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PingFang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PingFang SC"/>
              <a:cs typeface="PingFang S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PingFang SC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PingFang SC"/>
              </a:rPr>
              <a:t>首页体积 MB（越低越好）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现状</c:v>
                </c:pt>
              </c:strCache>
            </c:strRef>
          </c:tx>
          <c:spPr>
            <a:solidFill>
              <a:srgbClr val="9A9E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PingFang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dartmangames.com → DARTMAN</c:v>
                  </c:pt>
                  <c:pt idx="1">
                    <c:v>madeindayin.com → 大银制造 EN</c:v>
                  </c:pt>
                  <c:pt idx="2">
                    <c:v>madeindayin.cn → 大银制造 中文</c:v>
                  </c:pt>
                  <c:pt idx="3">
                    <c:v>dayinsport.com → DAYIN Sport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</c:v>
                </c:pt>
                <c:pt idx="1">
                  <c:v>3</c:v>
                </c:pt>
                <c:pt idx="2">
                  <c:v>9.9</c:v>
                </c:pt>
                <c:pt idx="3">
                  <c:v>2.7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新版</c:v>
                </c:pt>
              </c:strCache>
            </c:strRef>
          </c:tx>
          <c:spPr>
            <a:solidFill>
              <a:srgbClr val="E857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PingFang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dartmangames.com → DARTMAN</c:v>
                  </c:pt>
                  <c:pt idx="1">
                    <c:v>madeindayin.com → 大银制造 EN</c:v>
                  </c:pt>
                  <c:pt idx="2">
                    <c:v>madeindayin.cn → 大银制造 中文</c:v>
                  </c:pt>
                  <c:pt idx="3">
                    <c:v>dayinsport.com → DAYIN Sport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1.1</c:v>
                </c:pt>
                <c:pt idx="2">
                  <c:v>1.2</c:v>
                </c:pt>
                <c:pt idx="3">
                  <c:v>1.1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PingFang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PingFang SC"/>
              <a:cs typeface="PingFang S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image" Target="../media/image-10-5.jpg"/><Relationship Id="rId6" Type="http://schemas.openxmlformats.org/officeDocument/2006/relationships/image" Target="../media/image-10-6.jpg"/><Relationship Id="rId7" Type="http://schemas.openxmlformats.org/officeDocument/2006/relationships/image" Target="../media/image-10-7.jpg"/><Relationship Id="rId8" Type="http://schemas.openxmlformats.org/officeDocument/2006/relationships/image" Target="../media/image-10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image" Target="../media/image-12-5.jpg"/><Relationship Id="rId6" Type="http://schemas.openxmlformats.org/officeDocument/2006/relationships/image" Target="../media/image-12-6.jpg"/><Relationship Id="rId7" Type="http://schemas.openxmlformats.org/officeDocument/2006/relationships/image" Target="../media/image-12-7.jpg"/><Relationship Id="rId8" Type="http://schemas.openxmlformats.org/officeDocument/2006/relationships/image" Target="../media/image-12-8.jpg"/><Relationship Id="rId9" Type="http://schemas.openxmlformats.org/officeDocument/2006/relationships/image" Target="../media/image-12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image" Target="../media/image-14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image" Target="../media/image-18-4.jpg"/><Relationship Id="rId5" Type="http://schemas.openxmlformats.org/officeDocument/2006/relationships/image" Target="../media/image-18-5.jpg"/><Relationship Id="rId6" Type="http://schemas.openxmlformats.org/officeDocument/2006/relationships/image" Target="../media/image-18-6.jpg"/><Relationship Id="rId7" Type="http://schemas.openxmlformats.org/officeDocument/2006/relationships/image" Target="../media/image-18-7.jpg"/><Relationship Id="rId8" Type="http://schemas.openxmlformats.org/officeDocument/2006/relationships/image" Target="../media/image-18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search/deck/dm-hero-peop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15161B">
              <a:alpha val="65000"/>
            </a:srgbClr>
          </a:solidFill>
          <a:ln w="12700">
            <a:solidFill>
              <a:srgbClr val="15161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 Media and Technology · 东莞 · 2026-09-21 · 方案 v3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三个网站，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两门生意，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一个团队。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31089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BD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大银集团数字营销升级方案 —— 附三个已按可上线标准做好的网站样例（DARTMAN Games · 大银制造 · DAYIN Sport 商城），以及现状诊断、12 周计划与费用框架。请先扫码看样例，再看方案。</a:t>
            </a:r>
            <a:endParaRPr lang="en-US" sz="1200" dirty="0"/>
          </a:p>
        </p:txBody>
      </p:sp>
      <p:pic>
        <p:nvPicPr>
          <p:cNvPr id="7" name="Image 1" descr="research/deck/qr-hub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3977640"/>
            <a:ext cx="822960" cy="822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40690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CBD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手机扫码打开样例总览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CBD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https://aailee779-coder.github.io/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12064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致：大银集团（DAYIN）管理层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· 三分钟看懂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三分钟看懂这份方案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965960" cy="105156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80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 页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175564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已完成的样例页面（三个站点），全部可在手机上打开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0" y="1188720"/>
            <a:ext cx="1965960" cy="105156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280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周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97480" y="175564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确认后到三个站全部上线，按里程碑付款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1965960" cy="105156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280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 元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00600" y="175564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样例阶段贵司无需支付 [BBK 确认]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66560" y="1188720"/>
            <a:ext cx="1920240" cy="105156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280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个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903720" y="17556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需要贵司确认的问题（百度 / 机台数 / 三站分工）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24231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我们看到的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67004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贵司的根基很扎实，网站没有把它讲出来。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127248"/>
            <a:ext cx="19659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 年注塑经验、100+ 台机器、越南新厂、自有品牌飞镖机——在网站上要么被埋在“关于我们”，要么用一个 Wix 模板呈现。四个站点的 Google 移动端性能得分 42–72 分，.cn 首页 9.9 MB。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60320" y="24231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我们做了什么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0" y="267004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先把样例做出来，再谈合作。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60320" y="3127248"/>
            <a:ext cx="19659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三个网站按可上线标准重建，并按各自行业标杆一比一搭建结构：DARTMAN（Dartshopper）、大银制造（Protolabs）、DAYIN Sport（Darts Corner）。全部数字来自贵司公开资料，未验证的标注“待确认”。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63440" y="24231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数据说明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267004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新版更快、更轻、更规范。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3127248"/>
            <a:ext cx="19659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移动端性能：DARTMAN 72→78，大银制造 53→79 / 42→82，商城 59→77；页面体积 2.7–9.9 MB → 1.0–1.2 MB；SEO 与最佳实践两项 100 分；50 个页面视图零溢出、零脚本错误。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66560" y="24231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我们建议的下一步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267004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周分三阶段上线。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3127248"/>
            <a:ext cx="19659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4 周 DARTMAN 上线 → 第 7 周大银制造 .com/.cn → 第 9 周商城 → 第 12 周社媒与看板运行。域名、账户、源码全部归大银。贵司只需回复一句话：“确认第一阶段”。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· 先说清楚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需要贵司确认的三个问题 · 本方案的三个原则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937760" cy="77724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0759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 百度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130759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madeindayin.com（海外站）目前是否也在投放百度 SEO/SEM？需求书中写了，但海外买家不用百度。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4937760" cy="77724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7627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 越南机台数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217627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官网首页写 40 台，越南页写 24 台，需求书写 25 台。以哪个为准？样例中标注为“待确认”。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937760" cy="77724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4495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 三个飞镖站点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304495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madeindayin.com/sporting、dayinsport.com、dartmangames.com 今后如何分工？我们建议：代工归 madeindayin，品牌归 DARTMAN，零售归 DAYIN Sport。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123444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7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307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不编造。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06440" y="158191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没有虚构的案例、评价或数据；样例中的示例商品与价格均已标注。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0" y="210312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7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2176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不碰贵司现有资产。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06440" y="245059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样例部署在 BBK 自己的地址，未触碰贵司域名、DNS、后台与广告账户。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0" y="297180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7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3044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不绑定。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06440" y="331927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账户以大银名义开设，源码交付，合作终止 5 个工作日内移交全部权限。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回复这三个问题 + 一句“确认第一阶段”，我们下周一启动。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· 我们理解的需求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四站六渠道 → 两门生意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贵司的需求书列了四个网站（madeindayin.cn / .com、dartmangames.com、dayinsport.com、规划中的商用扫地机站）和六个渠道（抖音、视频号、LinkedIn、Instagram、Facebook、搜索引擎）。我们逐字复述过，也逐个看过。结论是：这是两门不同的生意，客户、周期、指标完全不同，应该分开做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73152" cy="2011680"/>
          </a:xfrm>
          <a:prstGeom prst="rect">
            <a:avLst/>
          </a:prstGeom>
          <a:solidFill>
            <a:srgbClr val="15161B"/>
          </a:solidFill>
          <a:ln w="12700">
            <a:solidFill>
              <a:srgbClr val="1516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生意 A · 卖产能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2677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madeindayin.com / .cn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" y="256032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客户：海外采购经理、品牌方 · 周期：3–12 个月 · 指标：合格询盘数、询盘质量、到厂拜访数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渠道：Google 搜索、LinkedIn、行业展会；.cn 对应百度与国内客户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关键资产：越南工厂——应当是首页主角，而不是“关于我们”里的子项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92024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920240"/>
            <a:ext cx="73152" cy="2011680"/>
          </a:xfrm>
          <a:prstGeom prst="rect">
            <a:avLst/>
          </a:prstGeom>
          <a:solidFill>
            <a:srgbClr val="E8571F"/>
          </a:solidFill>
          <a:ln w="12700">
            <a:solidFill>
              <a:srgbClr val="E857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生意 B · 卖自有品牌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2677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dartmangames.com · dayinsport.com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256032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客户：酒吧老板、经销商（DARTMAN）；家庭玩家（DAYIN Sport）· 周期：几天到几周 · 指标：经销商申请、报价请求、订单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渠道：Instagram、Facebook、YouTube、Google 购物；国内用抖音与视频号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关键资产：EDmini 的三个数字——11 cm、65 kg、一人安装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因此：一套品牌三种语气（统一大银橙 + DAYIN 字标，版式各按行业标杆）· 先做快的那一边（DARTMAN 2–4 周可见询盘）· 扫地机站先不做（产品线未定，先在大银制造站放“清洁电器”栏目）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· 现状诊断 · 实测数据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四个站点的体检报告 · Google Lighthouse 12 · 2026-09-19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822960"/>
                <a:gridCol w="1280160"/>
                <a:gridCol w="1005840"/>
                <a:gridCol w="731520"/>
                <a:gridCol w="1005840"/>
                <a:gridCol w="73152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站点（首页）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性能·移动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性能·桌面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最大内容渲染 LCP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页面体积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请求数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布局偏移 CLS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无障碍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SEO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dartmangames.com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72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44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15.6 s（桌面）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4.2 MB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251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0.00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93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100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madeindayin.com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53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44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5.8 s（移动）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3.0–4.8 MB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47–58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0.00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76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92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madeindayin.cn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42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59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6.6 s（移动）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9.9 MB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86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0.797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60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83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dayinsport.com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59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55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8.6 s（桌面）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2.7 MB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38–42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0.00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96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100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工具：Google Lighthouse（Chrome 内置，Google 用同一套指标评估网页体验），模拟移动网络，同一天、同一设置。分数满分 100；Google 认为 90 以上为“好”。LCP 标准 ≤ 2.5 s；CLS 标准 ≤ 0.1——.cn 首页移动端 0.797 意味着用户点击时按钮会“跑掉”；.cn 的 9.9 MB 中有 9.6 MB 是未压缩图片。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一句话：内容有、根基有、产品有；缺的是速度、结构和让买家动手的入口。这些都可以在 12 周内解决。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· 现状诊断 · 发现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十二项发现（证据截图见在线诊断报告 /audit/）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" cy="38404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严重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" y="12070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F2 · dartmangames.com 唯一联系邮箱属于另一家公司名下（jinweiplastic.com）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719072"/>
            <a:ext cx="502920" cy="38404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190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严重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F6 · 没有任何面向买家决策的转化资产：无报价流程、无经销商申请、无规格下载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249424"/>
            <a:ext cx="502920" cy="384048"/>
          </a:xfrm>
          <a:prstGeom prst="rect">
            <a:avLst/>
          </a:prstGeom>
          <a:solidFill>
            <a:srgbClr val="E8571F"/>
          </a:solidFill>
          <a:ln w="12700">
            <a:solidFill>
              <a:srgbClr val="E857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4942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226771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F1 · 英文站导航里有未翻译的繁体中文菜单项（商店 / 通知 / 我的訂閱）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779776"/>
            <a:ext cx="502920" cy="384048"/>
          </a:xfrm>
          <a:prstGeom prst="rect">
            <a:avLst/>
          </a:prstGeom>
          <a:solidFill>
            <a:srgbClr val="E8571F"/>
          </a:solidFill>
          <a:ln w="12700">
            <a:solidFill>
              <a:srgbClr val="E857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7977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" y="279806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F9 · 越南工厂是“关于我们”的一个子项，不是网站定位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310128"/>
            <a:ext cx="502920" cy="384048"/>
          </a:xfrm>
          <a:prstGeom prst="rect">
            <a:avLst/>
          </a:prstGeom>
          <a:solidFill>
            <a:srgbClr val="E8571F"/>
          </a:solidFill>
          <a:ln w="12700">
            <a:solidFill>
              <a:srgbClr val="E857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1012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" y="332841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F11 · dayinsport.com 已上线且为 B2B 代工站，与需求书描述不符；飞镖代工分散在三个站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502920" cy="384048"/>
          </a:xfrm>
          <a:prstGeom prst="rect">
            <a:avLst/>
          </a:prstGeom>
          <a:solidFill>
            <a:srgbClr val="E8571F"/>
          </a:solidFill>
          <a:ln w="12700">
            <a:solidFill>
              <a:srgbClr val="E857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4048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1560" y="38587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F3 · 测试页面进入了生产环境（/facts-about-us-test-test、/copy-of-terms-of-service）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188720"/>
            <a:ext cx="502920" cy="384048"/>
          </a:xfrm>
          <a:prstGeom prst="rect">
            <a:avLst/>
          </a:prstGeom>
          <a:solidFill>
            <a:srgbClr val="B08A00"/>
          </a:solidFill>
          <a:ln w="12700">
            <a:solidFill>
              <a:srgbClr val="B08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1887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57800" y="12070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F10 · 越南机台数在三处不一致（40 / 24 / 25）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1719072"/>
            <a:ext cx="502920" cy="384048"/>
          </a:xfrm>
          <a:prstGeom prst="rect">
            <a:avLst/>
          </a:prstGeom>
          <a:solidFill>
            <a:srgbClr val="B08A00"/>
          </a:solidFill>
          <a:ln w="12700">
            <a:solidFill>
              <a:srgbClr val="B08A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7190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5780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F7 · 需求书将 .com 海外站的工作列为百度 SEO/SEM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249424"/>
            <a:ext cx="502920" cy="384048"/>
          </a:xfrm>
          <a:prstGeom prst="rect">
            <a:avLst/>
          </a:prstGeom>
          <a:solidFill>
            <a:srgbClr val="B08A00"/>
          </a:solidFill>
          <a:ln w="12700">
            <a:solidFill>
              <a:srgbClr val="B08A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24942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57800" y="226771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F5 · “高端产品线”只有一个产品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779776"/>
            <a:ext cx="502920" cy="384048"/>
          </a:xfrm>
          <a:prstGeom prst="rect">
            <a:avLst/>
          </a:prstGeom>
          <a:solidFill>
            <a:srgbClr val="B08A00"/>
          </a:solidFill>
          <a:ln w="12700">
            <a:solidFill>
              <a:srgbClr val="B08A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77977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57800" y="279806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F12 · .cn 标题已含“越南注塑厂”，但内容与 .com 未联动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3310128"/>
            <a:ext cx="502920" cy="384048"/>
          </a:xfrm>
          <a:prstGeom prst="rect">
            <a:avLst/>
          </a:prstGeom>
          <a:solidFill>
            <a:srgbClr val="7A7E88"/>
          </a:solidFill>
          <a:ln w="12700">
            <a:solidFill>
              <a:srgbClr val="7A7E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31012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57800" y="332841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F4 · YouTube 图标链接到单个视频而非频道 · F6b/6c · Wix 平台限制性能与 SEO；LINE 为海外站唯一即时联系渠道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3840480"/>
            <a:ext cx="502920" cy="384048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84048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优势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57800" y="38587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F8 · 英文内容体系已经存在且质量不错——差距不在内容量，在呈现与转化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· 新版 vs 现状 · 同一工具 · 同一设置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样例已经比现状快了，上线后还会更快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8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18872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663440" y="1188720"/>
          <a:ext cx="4023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请求数 38–251 → 22–31 · 主线程阻塞 2–628 ms → 0–30 ms · 布局偏移 0–0.797 → 0.00 · 最佳实践 / SEO → 100 / 100 · 转化入口：无 → 每站 2–4 个（3D 配置器、回本计算器、经销商申请、六步询价、购物车与结账）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· 参考标杆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我们对标了谁 · 结构一比一，颜色与 Logo 统一为大银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29768" y="1161288"/>
            <a:ext cx="2706624" cy="179222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8" name="Image 0" descr="research/deck/ref-dartshopp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2651760" cy="1737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017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dartshopper.com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27355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欧洲最大飞镖电商 → DARTMAN 首页：信任条、搜索、分类导航、轮播、场景、产品卡、视频、SEO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18688" y="1161288"/>
            <a:ext cx="2706624" cy="179222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2" name="Image 1" descr="research/deck/ref-dartscorne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46120" y="1188720"/>
            <a:ext cx="2651760" cy="1737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46120" y="3017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dartscorner.com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246120" y="327355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镖盘列表页 → DAYIN Sport：黑色导航、精选方块、侧栏筛选、库存 / SKU、加入购物车、加载更多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07608" y="1161288"/>
            <a:ext cx="2706624" cy="179222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6" name="Image 2" descr="research/deck/ref-protolab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35040" y="1188720"/>
            <a:ext cx="2651760" cy="1737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35040" y="3017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protolabs.com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035040" y="327355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制造业 B2B 标杆 → 大银制造：即时报价、认证前置、工艺卡、材料表、四步流程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E8571F"/>
          </a:solidFill>
          <a:ln w="12700">
            <a:solidFill>
              <a:srgbClr val="E8571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4069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三个站统一：大银橙 #E8571F · DAYIN 字标 + 子品牌（DARTMAN / SPORT）· 所有图片来自贵司素材或以贵司产品图为参考生成，未使用标杆网站的图片或产品数据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· 样例一 · DARTMAN Games · dartmangames.com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DARTMAN Games：把三个数字卖出去。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EDmini 的卖点不是“电子飞镖机”，而是 11 cm 机头、65 kg、一人免工具安装。新站按 dartshopper.com 的结构搭建——酒吧老板一眼就知道这是一个“能下单”的品牌站。8 页已完成。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4206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2004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61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首页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三帧轮播、三个推广位、六个热门分类、八种场景、精选产品卡（五种配色 + 配件）、双横幅、13 款游戏、视频、SEO 文案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61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EDmini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3D 配置器 + 实拍图、滚动转台 72 帧、规格表、三箱装运、85/180 台装柜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61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Games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13 款游戏、eDARTS App、SDBplay 2、运营工具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61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For venues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回本计算器（价格由用户输入）、联赛飞轮、咨询表单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61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Dealers / Locations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三级经销商方案与申请、全球场地地图（示例数据已标注）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61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About / Contact / Before-after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1989 → 2024 时间线、三地地址、新旧首页对比滑块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864608" y="1115568"/>
            <a:ext cx="3849624" cy="243230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0" descr="research/deck/pg-dartman-0-t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143000"/>
            <a:ext cx="3794760" cy="2377440"/>
          </a:xfrm>
          <a:prstGeom prst="rect">
            <a:avLst/>
          </a:prstGeom>
        </p:spPr>
      </p:pic>
      <p:pic>
        <p:nvPicPr>
          <p:cNvPr id="11" name="Image 1" descr="research/deck/qr-dartma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92040" y="3657600"/>
            <a:ext cx="868680" cy="8686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852160" y="37033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扫码打开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https://aailee779-coder.github.io/dartman/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5852160" y="41148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机台尺寸、重量、装柜量、游戏列表来自 dartmangames.com；经销商条款、场地数据、配件价格为示例；场景图由 AI 基于贵司产品图生成，机台外观未改动。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附录 A · 1200px 桌面截图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DARTMAN Games · 全部 8 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29768" y="1115568"/>
            <a:ext cx="2020824" cy="147218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8" name="Image 0" descr="research/deck/pg-dartman-0-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43000"/>
            <a:ext cx="1965960" cy="1417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59689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首页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32888" y="1115568"/>
            <a:ext cx="2020824" cy="147218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1" name="Image 1" descr="research/deck/pg-dartman-1-full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60320" y="1143000"/>
            <a:ext cx="1965960" cy="1417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0" y="259689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EDmini · 转台 + 3D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636008" y="1115568"/>
            <a:ext cx="2020824" cy="147218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4" name="Image 2" descr="research/deck/pg-dartman-2-full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0" y="1143000"/>
            <a:ext cx="1965960" cy="1417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63440" y="259689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Games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739128" y="1115568"/>
            <a:ext cx="2020824" cy="147218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7" name="Image 3" descr="research/deck/pg-dartman-3-full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66560" y="1143000"/>
            <a:ext cx="1965960" cy="1417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66560" y="259689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For venues · 回本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29768" y="2898648"/>
            <a:ext cx="2020824" cy="147218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4" descr="research/deck/pg-dartman-4-full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7200" y="2926080"/>
            <a:ext cx="1965960" cy="1417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57200" y="437997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Dealers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2532888" y="2898648"/>
            <a:ext cx="2020824" cy="147218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3" name="Image 5" descr="research/deck/pg-dartman-5-full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560320" y="2926080"/>
            <a:ext cx="1965960" cy="14173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2560320" y="437997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Find a venue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4636008" y="2898648"/>
            <a:ext cx="2020824" cy="147218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6" name="Image 6" descr="research/deck/pg-dartman-6-full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663440" y="2926080"/>
            <a:ext cx="1965960" cy="141732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663440" y="437997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About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6739128" y="2898648"/>
            <a:ext cx="2020824" cy="147218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9" name="Image 7" descr="research/deck/pg-dartman-7-full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766560" y="2926080"/>
            <a:ext cx="1965960" cy="141732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766560" y="437997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Contact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 · 样例二 · 大银制造 · madeindayin.com / .cn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大银制造：越南是正门，不是脚注。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海外采购经理三秒内要知道三件事：你能做什么、在哪里做、怎么开始。新站按 protolabs.com 的结构搭建：即时报价、认证前置、工艺卡、材料表、两基地、四步流程；“中国 + 越南”成为一级导航。英文 8 页 + 中文首页。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4206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2004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61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首页（中英）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报价优先：四个工艺卡、六项配套能力、材料表、两基地卡、六大行业、四步流程、三篇资源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61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China + Vietnam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三类买家压力、逐项对照表、四问推荐器、官网 FAQ 原文、3D 地球仪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61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Capabilities / Products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模具 / 注塑 / 二次加工 / 电子组装 / 品控；自有产品用贵司现有图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61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Quality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ISO 9001（大银 + 嘉旭）、GRS、SMTA、SCAN、Target 验厂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61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RFQ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六步询价：项目类型 → 阶段与年量 → 基地 → 材料工艺 → 图纸 → 联系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61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About / Contact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1989 → 2024 时间线、三地地址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864608" y="1115568"/>
            <a:ext cx="3849624" cy="243230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0" descr="research/deck/pg-dayin-0-t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143000"/>
            <a:ext cx="3794760" cy="2377440"/>
          </a:xfrm>
          <a:prstGeom prst="rect">
            <a:avLst/>
          </a:prstGeom>
        </p:spPr>
      </p:pic>
      <p:pic>
        <p:nvPicPr>
          <p:cNvPr id="11" name="Image 1" descr="research/deck/qr-vietna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92040" y="3657600"/>
            <a:ext cx="868680" cy="8686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852160" y="37033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扫码打开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https://aailee779-coder.github.io/dayin/vietnam/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5852160" y="41148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厂区、机台、认证、物流距离均来自 madeindayin.com；越南机台数标注“待确认”；厂区照片为贵司实拍，模具 / 颗粒 / 港口三张为 AI 示意图（已注明）。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附录 B · 1200px 桌面截图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大银制造 · 全部 9 页（英文 8 页 + 中文首页）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29768" y="1115568"/>
            <a:ext cx="1609344" cy="147218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8" name="Image 0" descr="research/deck/pg-dayin-0-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43000"/>
            <a:ext cx="1554480" cy="1417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59689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首页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112264" y="1115568"/>
            <a:ext cx="1609344" cy="147218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1" name="Image 1" descr="research/deck/pg-dayin-1-full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139696" y="1143000"/>
            <a:ext cx="1554480" cy="1417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39696" y="259689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China + Vietnam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794760" y="1115568"/>
            <a:ext cx="1609344" cy="147218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4" name="Image 2" descr="research/deck/pg-dayin-2-full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22192" y="1143000"/>
            <a:ext cx="1554480" cy="1417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22192" y="259689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Capabilities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477256" y="1115568"/>
            <a:ext cx="1609344" cy="147218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7" name="Image 3" descr="research/deck/pg-dayin-3-full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04688" y="1143000"/>
            <a:ext cx="1554480" cy="1417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04688" y="259689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Products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7159752" y="1115568"/>
            <a:ext cx="1609344" cy="147218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4" descr="research/deck/pg-dayin-4-full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187184" y="1143000"/>
            <a:ext cx="1554480" cy="1417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87184" y="259689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Quality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429768" y="2898648"/>
            <a:ext cx="1609344" cy="147218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3" name="Image 5" descr="research/deck/pg-dayin-5-full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57200" y="2926080"/>
            <a:ext cx="1554480" cy="14173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57200" y="437997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About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2112264" y="2898648"/>
            <a:ext cx="1609344" cy="147218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6" name="Image 6" descr="research/deck/pg-dayin-6-full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139696" y="2926080"/>
            <a:ext cx="1554480" cy="141732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139696" y="437997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Contact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3794760" y="2898648"/>
            <a:ext cx="1609344" cy="147218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9" name="Image 7" descr="research/deck/pg-dayin-7-full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822192" y="2926080"/>
            <a:ext cx="1554480" cy="141732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3822192" y="437997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RFQ · 六步询价</a:t>
            </a:r>
            <a:endParaRPr lang="en-US" sz="900" dirty="0"/>
          </a:p>
        </p:txBody>
      </p:sp>
      <p:sp>
        <p:nvSpPr>
          <p:cNvPr id="31" name="Shape 21"/>
          <p:cNvSpPr/>
          <p:nvPr/>
        </p:nvSpPr>
        <p:spPr>
          <a:xfrm>
            <a:off x="5477256" y="2898648"/>
            <a:ext cx="1609344" cy="147218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32" name="Image 8" descr="research/deck/pg-dayin-8-full.jp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504688" y="2926080"/>
            <a:ext cx="1554480" cy="141732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504688" y="437997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中文首页 /zh/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· 样例三 · DAYIN Sport 商城 · dayinsport.com 消费者方向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DAYIN Sport：把代工厂变成零售品牌。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dayinsport.com 目前是 B2B 代工站，与 madeindayin.com/sporting 重叠。我们建议把它转向面向海外家庭玩家的零售商城——“做了 1200 万块板的工厂，直接卖给你”。样例按 dartscorner.com 的结构搭建，24 个 SKU，完整购物流程。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4206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2004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61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首页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三帧轮播、精选镖盘 / 系列 / 自动计分方块、八种场景、新品、系列墙、工厂数据、九项个性化定制、内容卡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61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Collection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Darts Corner 式列表：产品 / 系列 / 功能 / 价格筛选（带数量）、五种排序、每页 12 个 + 加载更多、库存与 SKU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61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Product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图片画廊、颜色与套装、数量、加入购物车、规格折叠、四款电子板对比、搭配推荐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61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购物车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侧滑抽屉、数量增减、满 150 美元包邮进度条、配件推荐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61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Checkout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信息 → 配送 → 支付 → 完成，订单摘要，生成订单号（演示）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61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Support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物流 / 退换 / 保修 / App / 批发，客服表单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864608" y="1115568"/>
            <a:ext cx="3849624" cy="243230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0" descr="research/deck/pg-shop-0-t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143000"/>
            <a:ext cx="3794760" cy="2377440"/>
          </a:xfrm>
          <a:prstGeom prst="rect">
            <a:avLst/>
          </a:prstGeom>
        </p:spPr>
      </p:pic>
      <p:pic>
        <p:nvPicPr>
          <p:cNvPr id="11" name="Image 1" descr="research/deck/qr-sho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92040" y="3657600"/>
            <a:ext cx="868680" cy="8686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852160" y="37033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扫码打开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https://aailee779-coder.github.io/shop/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5852160" y="41148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品类来自 dayinsport.com 六条产品线；商品名、价格、库存为示例（页面标注 Demo）；没有放任何虚构的用户评价；场景图由 AI 基于贵司产品图生成。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附录 C · 1200px 桌面截图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DAYIN Sport 商城 · 全部 5 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29768" y="1115568"/>
            <a:ext cx="1609344" cy="243230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8" name="Image 0" descr="research/deck/pg-shop-0-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43000"/>
            <a:ext cx="1554480" cy="23774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55701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首页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112264" y="1115568"/>
            <a:ext cx="1609344" cy="243230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1" name="Image 1" descr="research/deck/pg-shop-1-full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139696" y="1143000"/>
            <a:ext cx="1554480" cy="23774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39696" y="355701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Collection · 筛选排序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794760" y="1115568"/>
            <a:ext cx="1609344" cy="243230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4" name="Image 2" descr="research/deck/pg-shop-2-full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22192" y="1143000"/>
            <a:ext cx="1554480" cy="23774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22192" y="355701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Product · 详情页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477256" y="1115568"/>
            <a:ext cx="1609344" cy="243230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7" name="Image 3" descr="research/deck/pg-shop-3-full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04688" y="1143000"/>
            <a:ext cx="1554480" cy="23774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04688" y="355701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Checkout · 三步结账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7159752" y="1115568"/>
            <a:ext cx="1609344" cy="243230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4" descr="research/deck/pg-shop-4-full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187184" y="1143000"/>
            <a:ext cx="1554480" cy="23774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87184" y="355701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Support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购物车抽屉、搜索面板为页面内组件；扫码可直接操作。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· 已完成 与 待做 · 诚实的清单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做了什么，还差什么，谁来做。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120640"/>
                <a:gridCol w="82296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站点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项目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状态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责任方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DARTMAN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Dartshopper 结构首页、8 页、3D 配置器、滚动转台、回本计算器、经销商申请、场地地图、11 张 AI 场景图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7A4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已完成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BBK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表单后端与垃圾过滤 · 从 Wix 迁出（DNS、301、Search Console）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857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上线前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BBK + 贵司授权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官方联系邮箱、YouTube 频道、LinkedIn 主页 · 真实场地与经销商数据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810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待提供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贵司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大银制造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Protolabs 结构首页（中英）、8 个英文页面、地球仪、推荐器、六步询价、材料表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7A4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已完成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BBK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.cn 全站中文版 · 询价路由 / CRM · 备案核对、百度站长、Search Console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857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上线前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BBK + 贵司授权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越南机台数确认、证书扫描件、官方邮箱 · 两厂实拍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810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待提供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贵司 / BBK 到厂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DAYIN Sport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Darts Corner 结构首页与列表页、24 个 SKU、筛选 / 搜索、购物车、结账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7A4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已完成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BBK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支付接入（Stripe / PayPal）、税费物流规则、订单邮件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857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上线前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BBK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正式商品目录、价格、库存、保修 · 海外仓 / 直邮方案 · 真实评价接入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810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待提供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贵司决策 · BBK 配置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社媒与内容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LinkedIn ×3、Instagram ×3、抖音脚本 ×2、视频号脚本 ×1、30 天日历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7A4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已完成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BBK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账号开通与认证（抖音企业号、视频号、LinkedIn、Meta）· 首月 12 条内容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7E88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合作后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贵司名义 · BBK 操作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· 时间表 · 三个里程碑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确认后 12 周，三个站全部上线。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377440" y="1143000"/>
            <a:ext cx="5257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77440" y="1371600"/>
            <a:ext cx="0" cy="2468880"/>
          </a:xfrm>
          <a:prstGeom prst="line">
            <a:avLst/>
          </a:prstGeom>
          <a:noFill/>
          <a:ln w="6350">
            <a:solidFill>
              <a:srgbClr val="E4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3220" y="1143000"/>
            <a:ext cx="5257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903220" y="1371600"/>
            <a:ext cx="0" cy="2468880"/>
          </a:xfrm>
          <a:prstGeom prst="line">
            <a:avLst/>
          </a:prstGeom>
          <a:noFill/>
          <a:ln w="6350">
            <a:solidFill>
              <a:srgbClr val="E4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143000"/>
            <a:ext cx="5257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29000" y="1371600"/>
            <a:ext cx="0" cy="2468880"/>
          </a:xfrm>
          <a:prstGeom prst="line">
            <a:avLst/>
          </a:prstGeom>
          <a:noFill/>
          <a:ln w="6350">
            <a:solidFill>
              <a:srgbClr val="E4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4780" y="1143000"/>
            <a:ext cx="5257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954780" y="1371600"/>
            <a:ext cx="0" cy="2468880"/>
          </a:xfrm>
          <a:prstGeom prst="line">
            <a:avLst/>
          </a:prstGeom>
          <a:noFill/>
          <a:ln w="6350">
            <a:solidFill>
              <a:srgbClr val="E4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143000"/>
            <a:ext cx="5257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80560" y="1371600"/>
            <a:ext cx="0" cy="2468880"/>
          </a:xfrm>
          <a:prstGeom prst="line">
            <a:avLst/>
          </a:prstGeom>
          <a:noFill/>
          <a:ln w="6350">
            <a:solidFill>
              <a:srgbClr val="E4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6340" y="1143000"/>
            <a:ext cx="5257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06340" y="1371600"/>
            <a:ext cx="0" cy="2468880"/>
          </a:xfrm>
          <a:prstGeom prst="line">
            <a:avLst/>
          </a:prstGeom>
          <a:noFill/>
          <a:ln w="6350">
            <a:solidFill>
              <a:srgbClr val="E4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1143000"/>
            <a:ext cx="5257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32120" y="1371600"/>
            <a:ext cx="0" cy="2468880"/>
          </a:xfrm>
          <a:prstGeom prst="line">
            <a:avLst/>
          </a:prstGeom>
          <a:noFill/>
          <a:ln w="6350">
            <a:solidFill>
              <a:srgbClr val="E4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7900" y="1143000"/>
            <a:ext cx="5257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57900" y="1371600"/>
            <a:ext cx="0" cy="2468880"/>
          </a:xfrm>
          <a:prstGeom prst="line">
            <a:avLst/>
          </a:prstGeom>
          <a:noFill/>
          <a:ln w="6350">
            <a:solidFill>
              <a:srgbClr val="E4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1143000"/>
            <a:ext cx="5257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583680" y="1371600"/>
            <a:ext cx="0" cy="2468880"/>
          </a:xfrm>
          <a:prstGeom prst="line">
            <a:avLst/>
          </a:prstGeom>
          <a:noFill/>
          <a:ln w="6350">
            <a:solidFill>
              <a:srgbClr val="E4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09460" y="1143000"/>
            <a:ext cx="5257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09460" y="1371600"/>
            <a:ext cx="0" cy="2468880"/>
          </a:xfrm>
          <a:prstGeom prst="line">
            <a:avLst/>
          </a:prstGeom>
          <a:noFill/>
          <a:ln w="6350">
            <a:solidFill>
              <a:srgbClr val="E4E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1143000"/>
            <a:ext cx="5257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635240" y="1371600"/>
            <a:ext cx="0" cy="2468880"/>
          </a:xfrm>
          <a:prstGeom prst="line">
            <a:avLst/>
          </a:prstGeom>
          <a:noFill/>
          <a:ln w="6350">
            <a:solidFill>
              <a:srgbClr val="E4E6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61020" y="1143000"/>
            <a:ext cx="5257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161020" y="1371600"/>
            <a:ext cx="0" cy="2468880"/>
          </a:xfrm>
          <a:prstGeom prst="line">
            <a:avLst/>
          </a:prstGeom>
          <a:noFill/>
          <a:ln w="6350">
            <a:solidFill>
              <a:srgbClr val="E4E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141732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启动 · 素材与数据确认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377440" y="1444752"/>
            <a:ext cx="1014984" cy="201168"/>
          </a:xfrm>
          <a:prstGeom prst="rect">
            <a:avLst/>
          </a:prstGeom>
          <a:solidFill>
            <a:srgbClr val="9A9EA8"/>
          </a:solidFill>
          <a:ln w="12700">
            <a:solidFill>
              <a:srgbClr val="9A9E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172821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到厂拍摄（东莞）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903220" y="1755648"/>
            <a:ext cx="489204" cy="201168"/>
          </a:xfrm>
          <a:prstGeom prst="rect">
            <a:avLst/>
          </a:prstGeom>
          <a:solidFill>
            <a:srgbClr val="9A9EA8"/>
          </a:solidFill>
          <a:ln w="12700">
            <a:solidFill>
              <a:srgbClr val="9A9E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03911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阶段一 · DARTMAN 上线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377440" y="2066544"/>
            <a:ext cx="2066544" cy="201168"/>
          </a:xfrm>
          <a:prstGeom prst="rect">
            <a:avLst/>
          </a:prstGeom>
          <a:solidFill>
            <a:srgbClr val="E8571F"/>
          </a:solidFill>
          <a:ln w="12700">
            <a:solidFill>
              <a:srgbClr val="E857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0" y="20391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★ 第 4 周 · 10/25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235000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阶段二 · 大银制造 .com + .cn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954780" y="2377440"/>
            <a:ext cx="2066544" cy="201168"/>
          </a:xfrm>
          <a:prstGeom prst="rect">
            <a:avLst/>
          </a:prstGeom>
          <a:solidFill>
            <a:srgbClr val="E8571F"/>
          </a:solidFill>
          <a:ln w="12700">
            <a:solidFill>
              <a:srgbClr val="E8571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57900" y="235000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★ 第 7 周 · 11/15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" y="266090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阶段三 · DAYIN Sport 商城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32120" y="2688336"/>
            <a:ext cx="1540764" cy="201168"/>
          </a:xfrm>
          <a:prstGeom prst="rect">
            <a:avLst/>
          </a:prstGeom>
          <a:solidFill>
            <a:srgbClr val="E8571F"/>
          </a:solidFill>
          <a:ln w="12700">
            <a:solidFill>
              <a:srgbClr val="E8571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09460" y="266090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★ 第 9 周 · 11/29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" y="297180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社媒账号 · 首月内容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429000" y="2999232"/>
            <a:ext cx="3118104" cy="201168"/>
          </a:xfrm>
          <a:prstGeom prst="rect">
            <a:avLst/>
          </a:prstGeom>
          <a:solidFill>
            <a:srgbClr val="4A4D57"/>
          </a:solidFill>
          <a:ln w="12700">
            <a:solidFill>
              <a:srgbClr val="4A4D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28269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投放（Google / Meta / 抖音）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480560" y="3310128"/>
            <a:ext cx="4169664" cy="201168"/>
          </a:xfrm>
          <a:prstGeom prst="rect">
            <a:avLst/>
          </a:prstGeom>
          <a:solidFill>
            <a:srgbClr val="4A4D57"/>
          </a:solidFill>
          <a:ln w="12700">
            <a:solidFill>
              <a:srgbClr val="4A4D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59359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数据看板 · 周报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954780" y="3621024"/>
            <a:ext cx="4695444" cy="201168"/>
          </a:xfrm>
          <a:prstGeom prst="rect">
            <a:avLst/>
          </a:prstGeom>
          <a:solidFill>
            <a:srgbClr val="4A4D57"/>
          </a:solidFill>
          <a:ln w="12700">
            <a:solidFill>
              <a:srgbClr val="4A4D5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86800" y="35935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★ 第 12 周 · 验收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57200" y="3977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1–2 周 · 确认与收集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57200" y="42245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三个问题的答案、邮箱与账号、证书、产品目录；到厂拍摄。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560320" y="3977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4 周 · 10 月 25 日 · DARTMAN 上线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560320" y="42245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迁出 Wix，域名切换，表单通知，Search Console。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663440" y="3977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7 周 · 11 月 15 日 · 大银制造上线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663440" y="42245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.com 英文 + .cn 中文，询价路由，百度与 Google 收录。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766560" y="3977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9 周 · 11 月 29 日 · 商城上线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766560" y="42245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支付、物流、税费；黑五与圣诞季前完成。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 9 月 28 日（周一）启动计算；第 1 周含国庆假期已留余量。可以更快吗？可以：只做阶段一，DARTMAN 第 4 周上线后先看数据，再决定二、三阶段——这也是我们推荐的做法。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· 交付清单、费用与付款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固定费用，按里程碑付款，验收后才算完成。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  <a:gridCol w="128016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阶段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交付物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费用（人民币）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付款节点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阶段一 · DARTMAN Games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8 页英文站、3D 配置器、回本计算器、经销商申请、场地地图、表单后端、Wix 迁出与 301、产品补拍 1 天、规格单 PDF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7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[BBK 填写]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30% 启动 · 40% 上线 · 30% 验收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阶段二 · 大银制造 .com + .cn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8 页英文 + 8 页中文、地球仪、推荐器、六步询价与路由、两厂拍摄、备案核对、百度 / Google 收录、证书下载包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7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[BBK 填写]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 / 40 / 30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阶段三 · DAYIN Sport 商城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 页商城、支付与物流接入、商品导入（≤ 40 SKU）、订单邮件、评价与邮件营销接入、上线检查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7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[BBK 填写]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 / 40 / 30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月度运营（可选）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社媒内容 12 条/月（拍摄 + 制作 + 发布）、投放管理、周报与月报、看板维护、网站小改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7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[BBK 填写] / 月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月初预付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广告投放预算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Google / Meta / 抖音投放费用，由贵司账户直付平台，BBK 不经手、不加价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7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[BBK 建议区间]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贵司直付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657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归属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38862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域名、主机、GA4、广告账户、社媒账号全部以大银名义开设，BBK 仅为管理员。源码在签约当天放入贵司仓库。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560320" y="3657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验收标准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560320" y="38862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每阶段上线前提供：Lighthouse 移动端 ≥ 80、三种设备实测截图、表单收信测试、旧链接跳转清单。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63440" y="3657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退出条款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663440" y="38862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任一阶段验收后可停止，不影响已上线站点。合作终止 5 个工作日内移交全部权限与文件。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766560" y="3657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关于效果的实话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766560" y="38862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DARTMAN 上线后 2–4 周可见经销商询盘；代工的第一个合格询盘可能在第 2–3 个月，第一个成交通常在 6 个月以后——由采购周期决定。我们承诺每周可见的指标与每月一页纸报告；保证数字的机构，请谨慎。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 · 社媒与内容 · 六个渠道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两种声音，绝不混用。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023360" cy="146304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07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声音 A · 大银制造 · 工程师对工程师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LinkedIn 为主：越南工厂进度、模具与材料知识、验厂与认证、两厂对照。语气克制、数据说话。国内用视频号：厂区实拍、工艺短片。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LinkedIn 每周 2 条（已备 3 条样稿）· 视频号每周 1 条（已备 1 条脚本）· 搜索：Google（.com）+ 百度（.cn）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023360" cy="1463040"/>
          </a:xfrm>
          <a:prstGeom prst="rect">
            <a:avLst/>
          </a:prstGeom>
          <a:solidFill>
            <a:srgbClr val="E8571F"/>
          </a:solidFill>
          <a:ln w="12700">
            <a:solidFill>
              <a:srgbClr val="E857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07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声音 B · DARTMAN / DAYIN Sport · 玩家对玩家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0600" y="148132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Instagram / Facebook / YouTube：机台在酒吧里的样子、联赛之夜、开箱与安装、五种配色。抖音：国内酒吧与飞镖馆场景、一人安装挑战。语气热、短、有画面。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Instagram 每周 3 条（已备 3 条）· 抖音每周 2 条（已备 2 条脚本）· 投放：Google 购物 + Meta（海外）；抖音（国内）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" y="2761488"/>
            <a:ext cx="1014984" cy="119786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4" name="Image 0" descr="research/deck/soc-linkedin-01-vietna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788920"/>
            <a:ext cx="960120" cy="11430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481328" y="2761488"/>
            <a:ext cx="1014984" cy="119786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6" name="Image 1" descr="research/deck/soc-linkedin-02-moldshop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08760" y="2788920"/>
            <a:ext cx="960120" cy="11430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532888" y="2761488"/>
            <a:ext cx="1014984" cy="119786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8" name="Image 2" descr="research/deck/soc-linkedin-03-qc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560320" y="2788920"/>
            <a:ext cx="960120" cy="11430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584448" y="2761488"/>
            <a:ext cx="1014984" cy="119786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3" descr="research/deck/soc-ig-01-trickshot-9x16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611880" y="2788920"/>
            <a:ext cx="960120" cy="11430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636008" y="2761488"/>
            <a:ext cx="1014984" cy="119786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2" name="Image 4" descr="research/deck/soc-ig-02-barnight-1x1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63440" y="2788920"/>
            <a:ext cx="960120" cy="114300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5687568" y="2761488"/>
            <a:ext cx="1014984" cy="119786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4" name="Image 5" descr="research/deck/soc-ig-03-tournament-1x1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715000" y="2788920"/>
            <a:ext cx="960120" cy="114300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739128" y="2761488"/>
            <a:ext cx="1014984" cy="119786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6" name="Image 6" descr="research/deck/soc-douyin-01-factory-cover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766560" y="2788920"/>
            <a:ext cx="960120" cy="1143000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7790688" y="2761488"/>
            <a:ext cx="1014984" cy="119786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8" name="Image 7" descr="research/deck/soc-douyin-02-product-cover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818120" y="2788920"/>
            <a:ext cx="960120" cy="11430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首月内容日历（10 月 5 日 – 11 月 3 日）、完整分镜脚本见在线附件 https://aailee779-coder.github.io/social/ · 规则：不买粉、不刷量；以贵司企业认证账号发布；所有素材版权归大银。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14b · 执行计划 · 一 · 线上定位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我们怎样让大银在网上被找到、被记住、被信任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51760" cy="214884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310896" cy="310896"/>
          </a:xfrm>
          <a:prstGeom prst="ellipse">
            <a:avLst/>
          </a:prstGeom>
          <a:solidFill>
            <a:srgbClr val="E8571F"/>
          </a:solidFill>
          <a:ln w="12700">
            <a:solidFill>
              <a:srgbClr val="E857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80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6459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被找到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1956816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三个站各占一个搜索场景：海外采购经理搜 “injection molding Vietnam / robot vacuum OEM” → 大银制造；酒吧老板搜 “electronic dart machine” → DARTMAN；家庭玩家搜 “bluetooth dartboard” → DAYIN Sport；国内客户搜 “越南注塑厂 / 注塑加工” → .cn。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651760" cy="214884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280160"/>
            <a:ext cx="310896" cy="310896"/>
          </a:xfrm>
          <a:prstGeom prst="ellipse">
            <a:avLst/>
          </a:prstGeom>
          <a:solidFill>
            <a:srgbClr val="E8571F"/>
          </a:solidFill>
          <a:ln w="12700">
            <a:solidFill>
              <a:srgbClr val="E857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280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16459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被记住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83280" y="1956816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一句话定位：“您熟悉的品牌，背后的工厂。” 首页第一屏用 Anker、迪卡侬、沃尔玛、富士康等真实客户 Logo 说话；越南工厂是正门；DARTMAN 用三个数字（11 cm · 65 kg · 一人安装）。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1188720"/>
            <a:ext cx="2651760" cy="214884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280160"/>
            <a:ext cx="310896" cy="310896"/>
          </a:xfrm>
          <a:prstGeom prst="ellipse">
            <a:avLst/>
          </a:prstGeom>
          <a:solidFill>
            <a:srgbClr val="E8571F"/>
          </a:solidFill>
          <a:ln w="12700">
            <a:solidFill>
              <a:srgbClr val="E857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280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16459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被信任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72200" y="1956816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证书、审核、专利、视频、相册全部放到首页可点可放大；每个站 2–4 个转化入口（即时报价、六步询价、回本计算器、经销商申请、购物车），表单 1 个工作日内回复。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456432"/>
            <a:ext cx="8229600" cy="0"/>
          </a:xfrm>
          <a:prstGeom prst="line">
            <a:avLst/>
          </a:prstGeom>
          <a:noFill/>
          <a:ln w="6350">
            <a:solidFill>
              <a:srgbClr val="E4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4838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371600" y="34838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海外采购经理 · 品牌方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0" y="34838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酒吧老板 · 经销商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0" y="34838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家庭玩家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0" y="34838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国内品牌方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767328"/>
            <a:ext cx="8229600" cy="0"/>
          </a:xfrm>
          <a:prstGeom prst="line">
            <a:avLst/>
          </a:prstGeom>
          <a:noFill/>
          <a:ln w="6350">
            <a:solidFill>
              <a:srgbClr val="E4E6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794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站点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371600" y="3794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madeindayin.com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00400" y="3794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dartmangames.com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3794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dayinsport.com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8000" y="3794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madeindayin.cn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078224"/>
            <a:ext cx="8229600" cy="0"/>
          </a:xfrm>
          <a:prstGeom prst="line">
            <a:avLst/>
          </a:prstGeom>
          <a:noFill/>
          <a:ln w="6350">
            <a:solidFill>
              <a:srgbClr val="E4E6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10565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主渠道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371600" y="410565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Google · LinkedIn · 展会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00400" y="410565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Instagram · YouTube · Google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410565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Google 购物 · Meta · TikTok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58000" y="410565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百度 · 视频号 · 抖音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14c · 执行计划 · 二 · 搜索引擎优化（SEO）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SEO：先修好，再写好，再链好。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51760" cy="283464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310896" cy="310896"/>
          </a:xfrm>
          <a:prstGeom prst="ellipse">
            <a:avLst/>
          </a:prstGeom>
          <a:solidFill>
            <a:srgbClr val="E8571F"/>
          </a:solidFill>
          <a:ln w="12700">
            <a:solidFill>
              <a:srgbClr val="E857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80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6459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技术基础 · 第 1–4 周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1956816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速度：移动端 ≥ 80 分（现状 42–72）、图片压缩、CDN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结构：一站一主题，清晰的 URL、标题、H1、面包屑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多语言：EN / 中文 hreflang，.com 与 .cn 互相声明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收录：站点地图、Google Search Console、百度站长平台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清理：删除测试页、修复 301、去掉繁体菜单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651760" cy="283464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280160"/>
            <a:ext cx="310896" cy="310896"/>
          </a:xfrm>
          <a:prstGeom prst="ellipse">
            <a:avLst/>
          </a:prstGeom>
          <a:solidFill>
            <a:srgbClr val="E8571F"/>
          </a:solidFill>
          <a:ln w="12700">
            <a:solidFill>
              <a:srgbClr val="E857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280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16459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关键词与内容 · 第 3–12 周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83280" y="1956816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大银制造（Google）：injection molding Vietnam · robot vacuum OEM · pet feeder OEM · two-shot molding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DARTMAN：electronic dart machine · dart machine for bars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DAYIN Sport：bluetooth dartboard · LED dartboard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.cn（百度）：越南注塑厂 · 注塑加工 · 塑胶模具 · 扫地机器人代工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每站每月 2 篇指南/案例（DFM、材料、越南关税、到岸成本）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1188720"/>
            <a:ext cx="2651760" cy="283464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280160"/>
            <a:ext cx="310896" cy="310896"/>
          </a:xfrm>
          <a:prstGeom prst="ellipse">
            <a:avLst/>
          </a:prstGeom>
          <a:solidFill>
            <a:srgbClr val="E8571F"/>
          </a:solidFill>
          <a:ln w="12700">
            <a:solidFill>
              <a:srgbClr val="E857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280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链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16459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权威与转化 · 持续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72200" y="1956816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行业目录与展会页面的反向链接（Canton Fair、TaiSPO、ThomasNet、Made-in-China）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Google 商家资料 + LinkedIn 公司页，与官网互链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每页一个明确 CTA；表单转化事件进 GA4 / 百度统计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月报：收录页数、关键词排名（Top 10 / Top 3）、自然流量、询盘数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实话：代工类关键词竞争高，前 3 个月看收录与排名，第 4–6 个月看自然询盘。我们不承诺“第一名”，承诺每月可见的进度。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14d · 执行计划 · 三 · 社交媒体管理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六个渠道，一张日历，贵司名义，BBK 操作。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8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3017520"/>
                <a:gridCol w="1005840"/>
                <a:gridCol w="10972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渠道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面向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内容支柱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频次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目标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LinkedIn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海外采购经理、品牌方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越南工厂进度 · 模具/材料知识 · 验厂与认证 · 两厂对照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每周 2 条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公司页关注、询盘私信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YouTube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买家 + 酒吧老板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工厂影片 · EDmini 安装/游戏 · 工艺短片（已有 11 部素材）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每月 2 部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频道订阅、搜索曝光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Instagram / Facebook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酒吧老板、经销商、玩家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机台在酒吧里 · 联赛之夜 · 五种配色 · 开箱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每周 3 条 + Reels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经销商询盘、商城访问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抖音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国内酒吧、飞镖馆、品牌方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一人安装挑战 · 酒吧场景 · 工厂实拍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每周 2 条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本地询盘、企业号私信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视频号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国内品牌方、同行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厂区实拍 · 工艺短片 · 越南出货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每周 1 条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国内询盘、微信转化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搜索引擎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全部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见 SEO 页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持续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自然流量与询盘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429000"/>
            <a:ext cx="2651760" cy="109728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34930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3749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月初出 30 天日历 → 贵司确认 → BBK 拍摄制作 → 每条发布前贵司审一次（文案 / 图片 / 数据）→ 周五进度页。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46120" y="3429000"/>
            <a:ext cx="2651760" cy="109728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34930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383280" y="3749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不买粉、不刷量；账号以贵司企业认证注册，BBK 为管理员；所有素材版权归大银；负面评论 24 小时内回复。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35040" y="3429000"/>
            <a:ext cx="2651760" cy="109728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34930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已备好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72200" y="3749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LinkedIn ×3、Instagram ×3、抖音脚本 ×2、视频号脚本 ×1、30 天日历（见 /social/），首月即可开播。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14e · 执行计划 · 四 · 广告投放管理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广告：贵司直付平台，BBK 只做搭建、优化和汇报。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51760" cy="214884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310896" cy="310896"/>
          </a:xfrm>
          <a:prstGeom prst="ellipse">
            <a:avLst/>
          </a:prstGeom>
          <a:solidFill>
            <a:srgbClr val="E8571F"/>
          </a:solidFill>
          <a:ln w="12700">
            <a:solidFill>
              <a:srgbClr val="E857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80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6459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Google Ads（海外）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1956816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搜索：大银制造 5 组关键词（越南注塑、代工、扫地机、宠物喂食器、双色注塑）；DARTMAN 3 组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购物：DAYIN Sport 商品 Feed（商城上线后）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落地页：询价页 / EDmini 页 / 商品页，每组一页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转化：表单提交、报价请求、加购、下单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651760" cy="214884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280160"/>
            <a:ext cx="310896" cy="310896"/>
          </a:xfrm>
          <a:prstGeom prst="ellipse">
            <a:avLst/>
          </a:prstGeom>
          <a:solidFill>
            <a:srgbClr val="E8571F"/>
          </a:solidFill>
          <a:ln w="12700">
            <a:solidFill>
              <a:srgbClr val="E857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280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16459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Meta（Instagram / Facebook）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83280" y="1956816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DARTMAN 经销商招募：受众 = 酒吧/娱乐场所经营者、飞镖兴趣，美国 / 欧洲 / 东南亚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DAYIN Sport 商城：兴趣 + 再营销（看过商品未下单）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素材：已有 24 张场景图 + 11 部视频剪辑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1188720"/>
            <a:ext cx="2651760" cy="214884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280160"/>
            <a:ext cx="310896" cy="310896"/>
          </a:xfrm>
          <a:prstGeom prst="ellipse">
            <a:avLst/>
          </a:prstGeom>
          <a:solidFill>
            <a:srgbClr val="E8571F"/>
          </a:solidFill>
          <a:ln w="12700">
            <a:solidFill>
              <a:srgbClr val="E857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280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抖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16459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抖音 / 百度（国内）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72200" y="1956816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抖音：DARTMAN 国内酒吧与飞镖馆，按城市投放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百度：.cn 站 “越南注塑厂 / 注塑加工” 搜索词，华南 + 华东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先小预算测 4 周，再按每次询盘成本决定加减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456432"/>
            <a:ext cx="8229600" cy="0"/>
          </a:xfrm>
          <a:prstGeom prst="line">
            <a:avLst/>
          </a:prstGeom>
          <a:noFill/>
          <a:ln w="6350">
            <a:solidFill>
              <a:srgbClr val="E4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4838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371600" y="3483864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由贵司账户直付平台，BBK 不经手、不加价 · 建议区间 [BBK 建议区间]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767328"/>
            <a:ext cx="8229600" cy="0"/>
          </a:xfrm>
          <a:prstGeom prst="line">
            <a:avLst/>
          </a:prstGeom>
          <a:noFill/>
          <a:ln w="6350">
            <a:solidFill>
              <a:srgbClr val="E4E6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94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节奏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371600" y="379476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每周优化一次（关键词、出价、素材、受众）· 每周五一页纸 · 每月复盘：每次询盘成本（CPL）、询盘质量、下月预算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14f · 执行计划 · 五 · 数据、汇报与目标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每周三个数字，每月一页纸，由数字决定要不要继续。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51760" cy="283464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801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1591056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GA4 + Google Search Console（海外三站）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百度统计 + 百度站长（.cn）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表单后台 + CRM 询价路由（工程师邮箱）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看板对贵司开放，随时可看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51760" cy="283464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801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生意 A · 大银制造 看什么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83280" y="1591056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合格询盘数（有图纸 / 有年量）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询盘来源（自然 / 广告 / LinkedIn）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到厂拜访数、样品数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目标：第 3 个月起每月 ≥ 3 条合格询盘 [BBK 确认]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51760" cy="283464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2801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生意 B · DARTMAN / Sport 看什么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72200" y="1591056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经销商申请、报价请求、计算器留资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商城：访问 → 加购 → 下单转化率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社媒：关注、互动、私信询盘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目标：DARTMAN 上线 4 周内首批经销商询盘 [BBK 确认]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汇报节奏：每周五一页进度（做了什么、三个数字、下周计划）；每月一页纸报告（流量、询盘、成本、下月建议）；每个里程碑到厂当面汇报。任一阶段验收后可停止。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· 为什么是 BBK · 东莞 · 双语 · 做出来给你看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我们不给您看 Logo 墙，给您看为大银做的东西。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651760" cy="155448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07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同城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长安到 BBK 不到一小时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拍厂、开会、改稿当天来回。上海深圳的机构做不到，海外机构听不懂“开模”和“验厂”。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651760" cy="155448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207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双语双市场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写给德州酒吧老板，也写给采购经理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9202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英文面向海外买家的写法，和中文面向国内客户的写法，是两种能力。三个样例站已经证明了这一点。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651760" cy="155448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207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先做再谈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付款之前，东西已经在这里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19202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 个页面、三套站点、一份体检报告、社媒样稿——都在您决定之前完成。这是最诚实的案例。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沟通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8872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一个项目经理对接；微信群 + 每周五进度页；重要节点到厂当面汇报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1272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审批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88720" y="31272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每个页面上线前贵司确认一次；文案、图片、数据三项分别签字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41985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88720" y="34198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GA4 + 百度统计 + 表单后台，看板对贵司开放；每月一页纸报告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7124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88720" y="37124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不使用贵司现有账号密码；所有新账号以贵司邮箱注册；权限最小化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0050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保密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88720" y="40050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签署 NDA；样例与本方案不对外展示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0" y="2834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 团队（本项目）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03520" y="31089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项目负责人 [BBK 填写姓名] · 策略与客户沟通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设计与前端 [BBK 填写] · 三个站点的设计与开发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内容与社媒 [BBK 填写] · 双语文案、拍摄、日历执行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投放与数据 [BBK 填写] · Google / Meta / 抖音投放，看板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 · 下一步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一句话即可启动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651760" cy="137160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07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扫码看样例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三个网站在手机上各看三分钟。哪里不对，直接告诉我们。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651760" cy="137160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207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1463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回复三个问题 + 一句话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1828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百度、机台数、三站分工；然后“确认第一阶段”。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651760" cy="1371600"/>
          </a:xfrm>
          <a:prstGeom prst="rect">
            <a:avLst/>
          </a:prstGeom>
          <a:solidFill>
            <a:srgbClr val="E8571F"/>
          </a:solidFill>
          <a:ln w="12700">
            <a:solidFill>
              <a:srgbClr val="E857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207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下周一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1463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72200" y="1828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签署 NDA 与阶段一合同，到厂拍摄排期，第 4 周 DARTMAN 上线。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启动前请贵司准备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97180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三个问题的答复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DARTMAN 与大银制造的官方联系邮箱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dartmangames.com 域名管理权限（Wix 迁出用）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ISO / GRS / SMTA / SCAN / Target 证书扫描件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⑤ 产品目录与价格（商城阶段）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⑥ 拍摄日期（东莞长安厂区，半天）</a:t>
            </a:r>
            <a:endParaRPr lang="en-US" sz="950" dirty="0"/>
          </a:p>
        </p:txBody>
      </p:sp>
      <p:pic>
        <p:nvPicPr>
          <p:cNvPr id="21" name="Image 0" descr="research/deck/qr-hu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2743200"/>
            <a:ext cx="1097280" cy="10972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846320" y="38587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样例总览</a:t>
            </a:r>
            <a:endParaRPr lang="en-US" sz="850" dirty="0"/>
          </a:p>
        </p:txBody>
      </p:sp>
      <p:pic>
        <p:nvPicPr>
          <p:cNvPr id="23" name="Image 1" descr="research/deck/qr-propos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2743200"/>
            <a:ext cx="1097280" cy="10972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035040" y="38587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方案书（网页 / PDF）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7315200" y="274320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联系 BBK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[BBK 填写姓名] · [电话] · [微信] · [邮箱]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 Media and Technology · 东莞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附录 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二维码总表 · 手机扫码直达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850" dirty="0"/>
          </a:p>
        </p:txBody>
      </p:sp>
      <p:pic>
        <p:nvPicPr>
          <p:cNvPr id="7" name="Image 0" descr="research/deck/qr-hu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4300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1671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样例总览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236829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aailee779-coder.github.io/</a:t>
            </a:r>
            <a:endParaRPr lang="en-US" sz="650" dirty="0"/>
          </a:p>
        </p:txBody>
      </p:sp>
      <p:pic>
        <p:nvPicPr>
          <p:cNvPr id="10" name="Image 1" descr="research/deck/qr-propos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39112" y="1143000"/>
            <a:ext cx="1005840" cy="1005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56232" y="21671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方案书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856232" y="236829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aailee779-coder.github.io</a:t>
            </a:r>
            <a:endParaRPr lang="en-US" sz="650" dirty="0"/>
          </a:p>
        </p:txBody>
      </p:sp>
      <p:pic>
        <p:nvPicPr>
          <p:cNvPr id="13" name="Image 2" descr="research/deck/qr-dartma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38144" y="1143000"/>
            <a:ext cx="1005840" cy="10058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55264" y="21671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DARTMAN 首页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3255264" y="236829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aailee779-coder.github.io</a:t>
            </a:r>
            <a:endParaRPr lang="en-US" sz="650" dirty="0"/>
          </a:p>
        </p:txBody>
      </p:sp>
      <p:pic>
        <p:nvPicPr>
          <p:cNvPr id="16" name="Image 3" descr="research/deck/qr-edmini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37176" y="1143000"/>
            <a:ext cx="1005840" cy="10058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54296" y="21671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EDmini · 3D + 转台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4654296" y="236829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aailee779-coder.github.io</a:t>
            </a:r>
            <a:endParaRPr lang="en-US" sz="650" dirty="0"/>
          </a:p>
        </p:txBody>
      </p:sp>
      <p:pic>
        <p:nvPicPr>
          <p:cNvPr id="19" name="Image 4" descr="research/deck/qr-venues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236208" y="1143000"/>
            <a:ext cx="1005840" cy="10058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053328" y="21671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回本计算器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6053328" y="236829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aailee779-coder.github.io</a:t>
            </a:r>
            <a:endParaRPr lang="en-US" sz="650" dirty="0"/>
          </a:p>
        </p:txBody>
      </p:sp>
      <p:pic>
        <p:nvPicPr>
          <p:cNvPr id="22" name="Image 5" descr="research/deck/qr-ba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635240" y="1143000"/>
            <a:ext cx="1005840" cy="10058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452360" y="21671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新旧对比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7452360" y="236829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aailee779-coder.github.io</a:t>
            </a:r>
            <a:endParaRPr lang="en-US" sz="650" dirty="0"/>
          </a:p>
        </p:txBody>
      </p:sp>
      <p:pic>
        <p:nvPicPr>
          <p:cNvPr id="25" name="Image 6" descr="research/deck/qr-dayin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40080" y="2743200"/>
            <a:ext cx="1005840" cy="100584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57200" y="37673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大银制造首页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457200" y="396849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aailee779-coder.github.io</a:t>
            </a:r>
            <a:endParaRPr lang="en-US" sz="650" dirty="0"/>
          </a:p>
        </p:txBody>
      </p:sp>
      <p:pic>
        <p:nvPicPr>
          <p:cNvPr id="28" name="Image 7" descr="research/deck/qr-vietnam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039112" y="2743200"/>
            <a:ext cx="1005840" cy="100584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856232" y="37673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越南专页</a:t>
            </a:r>
            <a:endParaRPr lang="en-US" sz="900" dirty="0"/>
          </a:p>
        </p:txBody>
      </p:sp>
      <p:sp>
        <p:nvSpPr>
          <p:cNvPr id="30" name="Text 20"/>
          <p:cNvSpPr/>
          <p:nvPr/>
        </p:nvSpPr>
        <p:spPr>
          <a:xfrm>
            <a:off x="1856232" y="396849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aailee779-coder.github.io</a:t>
            </a:r>
            <a:endParaRPr lang="en-US" sz="650" dirty="0"/>
          </a:p>
        </p:txBody>
      </p:sp>
      <p:pic>
        <p:nvPicPr>
          <p:cNvPr id="31" name="Image 8" descr="research/deck/qr-rfq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438144" y="2743200"/>
            <a:ext cx="1005840" cy="100584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3255264" y="37673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六步询价</a:t>
            </a:r>
            <a:endParaRPr lang="en-US" sz="900" dirty="0"/>
          </a:p>
        </p:txBody>
      </p:sp>
      <p:sp>
        <p:nvSpPr>
          <p:cNvPr id="33" name="Text 22"/>
          <p:cNvSpPr/>
          <p:nvPr/>
        </p:nvSpPr>
        <p:spPr>
          <a:xfrm>
            <a:off x="3255264" y="396849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aailee779-coder.github.io</a:t>
            </a:r>
            <a:endParaRPr lang="en-US" sz="650" dirty="0"/>
          </a:p>
        </p:txBody>
      </p:sp>
      <p:pic>
        <p:nvPicPr>
          <p:cNvPr id="34" name="Image 9" descr="research/deck/qr-zh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837176" y="2743200"/>
            <a:ext cx="1005840" cy="100584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4654296" y="37673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中文首页</a:t>
            </a:r>
            <a:endParaRPr lang="en-US" sz="900" dirty="0"/>
          </a:p>
        </p:txBody>
      </p:sp>
      <p:sp>
        <p:nvSpPr>
          <p:cNvPr id="36" name="Text 24"/>
          <p:cNvSpPr/>
          <p:nvPr/>
        </p:nvSpPr>
        <p:spPr>
          <a:xfrm>
            <a:off x="4654296" y="396849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aailee779-coder.github.io</a:t>
            </a:r>
            <a:endParaRPr lang="en-US" sz="650" dirty="0"/>
          </a:p>
        </p:txBody>
      </p:sp>
      <p:pic>
        <p:nvPicPr>
          <p:cNvPr id="37" name="Image 10" descr="research/deck/qr-shop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236208" y="2743200"/>
            <a:ext cx="1005840" cy="100584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053328" y="37673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商城首页</a:t>
            </a:r>
            <a:endParaRPr lang="en-US" sz="900" dirty="0"/>
          </a:p>
        </p:txBody>
      </p:sp>
      <p:sp>
        <p:nvSpPr>
          <p:cNvPr id="39" name="Text 26"/>
          <p:cNvSpPr/>
          <p:nvPr/>
        </p:nvSpPr>
        <p:spPr>
          <a:xfrm>
            <a:off x="6053328" y="396849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aailee779-coder.github.io</a:t>
            </a:r>
            <a:endParaRPr lang="en-US" sz="650" dirty="0"/>
          </a:p>
        </p:txBody>
      </p:sp>
      <p:pic>
        <p:nvPicPr>
          <p:cNvPr id="40" name="Image 11" descr="research/deck/qr-product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7635240" y="2743200"/>
            <a:ext cx="1005840" cy="1005840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7452360" y="37673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商品页</a:t>
            </a:r>
            <a:endParaRPr lang="en-US" sz="900" dirty="0"/>
          </a:p>
        </p:txBody>
      </p:sp>
      <p:sp>
        <p:nvSpPr>
          <p:cNvPr id="42" name="Text 28"/>
          <p:cNvSpPr/>
          <p:nvPr/>
        </p:nvSpPr>
        <p:spPr>
          <a:xfrm>
            <a:off x="7452360" y="396849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aailee779-coder.github.io</a:t>
            </a:r>
            <a:endParaRPr lang="en-US" sz="650" dirty="0"/>
          </a:p>
        </p:txBody>
      </p:sp>
      <p:sp>
        <p:nvSpPr>
          <p:cNvPr id="43" name="Text 29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所有链接均指向 BBK 自有地址；未触碰贵司任何域名。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附录 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6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附录 · 数据来源 与 未验证事项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7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BBK</a:t>
            </a:r>
            <a:pPr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大银集团数字营销升级方案 · Concept by BBK Media and Technology · 概念演示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8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项目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来源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厂区 / 机台 / 人员 / 认证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madeindayin.com（/index、/about-da-yin、/vietnam-manufacturing），2026-09-19 抓取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EDmini 规格 / 装柜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dartmangames.com（/edmini、/edarts-games），2026-09-19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dayinsport.com 定位与数据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dayinsport.com 首页，2026-09-19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性能数据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Google Lighthouse 12，模拟移动网络，现状 2026-09-19，新版 2026-09-20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越南 FAQ 五问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madeindayin.com/vietnam-manufacturing，原文引用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参考标杆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dartshopper.com · dartscorner.com · protolabs.com，仅参考页面结构与版式；未使用其图片、产品或数据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AI 场景图（24 张）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以贵司真实产品照片为参考图生成（GPT Image 2.5），产品外观未改动；上线前可用实拍替换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未验证 / 未使用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D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定价、经销商数量、装机量、营收、场地数量、App 用户数——均未在样例中作为事实出现；商品名、价格、库存为示例并已标注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E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Concept by BBK Media and Technology · 概念演示 · 本方案不含任何虚构案例或数据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BBK Media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BBK × 大银 · 数字营销升级方案</dc:title>
  <dc:subject>PptxGenJS Presentation</dc:subject>
  <dc:creator>BBK Media and Technology</dc:creator>
  <cp:lastModifiedBy>BBK Media and Technology</cp:lastModifiedBy>
  <cp:revision>1</cp:revision>
  <dcterms:created xsi:type="dcterms:W3CDTF">2026-09-19T22:09:51Z</dcterms:created>
  <dcterms:modified xsi:type="dcterms:W3CDTF">2026-09-19T22:09:51Z</dcterms:modified>
</cp:coreProperties>
</file>